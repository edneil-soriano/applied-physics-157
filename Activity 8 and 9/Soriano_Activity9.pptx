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56" r:id="rId2"/>
    <p:sldId id="258" r:id="rId3"/>
    <p:sldId id="263" r:id="rId4"/>
    <p:sldId id="281" r:id="rId5"/>
    <p:sldId id="282"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9" autoAdjust="0"/>
    <p:restoredTop sz="94660"/>
  </p:normalViewPr>
  <p:slideViewPr>
    <p:cSldViewPr snapToGrid="0">
      <p:cViewPr varScale="1">
        <p:scale>
          <a:sx n="76" d="100"/>
          <a:sy n="76" d="100"/>
        </p:scale>
        <p:origin x="398"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DFCC7-BE5F-4E2F-A0B7-89DECF2292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8744C309-A916-4846-BF9D-4EDBAAA495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E4632129-96B2-4ED4-8A5A-5A99570B8941}"/>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5" name="Footer Placeholder 4">
            <a:extLst>
              <a:ext uri="{FF2B5EF4-FFF2-40B4-BE49-F238E27FC236}">
                <a16:creationId xmlns:a16="http://schemas.microsoft.com/office/drawing/2014/main" id="{D2EBE942-42DE-4CD9-9E46-4B0B6866B45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23CDCE3-CEEA-4493-AFEE-20E99B0C23FF}"/>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15631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C1B5-5E3B-4598-A025-33E5632AD4B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23943F4-7D93-4DF4-838D-13367FC85D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DC44767-7780-4C67-89B4-4FC910F7B027}"/>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5" name="Footer Placeholder 4">
            <a:extLst>
              <a:ext uri="{FF2B5EF4-FFF2-40B4-BE49-F238E27FC236}">
                <a16:creationId xmlns:a16="http://schemas.microsoft.com/office/drawing/2014/main" id="{BC5A2813-7991-43DB-BCBD-A3E23FBF256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1786C29-3B5C-4959-9A98-488A0F87F61C}"/>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00917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894E-6117-472B-886A-AC8C6ABE9D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31F91B21-484A-4C7C-9A75-733E8CADCE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E30143-48B9-42B7-8335-617D2EABE03F}"/>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5" name="Footer Placeholder 4">
            <a:extLst>
              <a:ext uri="{FF2B5EF4-FFF2-40B4-BE49-F238E27FC236}">
                <a16:creationId xmlns:a16="http://schemas.microsoft.com/office/drawing/2014/main" id="{5D3DFC52-7018-490A-B05F-C8A8F8B3396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294C306-547E-4AB1-AFFD-0CC5BA1D6CB4}"/>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672233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80F1F-6B34-41D7-80B1-7C4D5F6B3B9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BF89DC8-6118-44C1-A83B-12B0FB87C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D5C74E02-5B39-44B7-BF42-CA661ABA3D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0EC9E85-F74D-4F6D-8353-92B550C44CA7}"/>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6" name="Footer Placeholder 5">
            <a:extLst>
              <a:ext uri="{FF2B5EF4-FFF2-40B4-BE49-F238E27FC236}">
                <a16:creationId xmlns:a16="http://schemas.microsoft.com/office/drawing/2014/main" id="{FE5F0AA8-1437-444C-A2A5-3D4C17318454}"/>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2F9C306-629D-4883-B159-6675AFE9304B}"/>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404701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71A94-69F1-452A-8BF8-80C22128D19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D8836C0-0CCA-4F6D-A84F-E508695DF7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6B4B6B-00DE-4593-98EF-0A2C0571C0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47B95F0F-FF08-47C0-8062-C5BBA5D82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EC09CA-688E-464F-9D87-35D584FDAE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F0BB9FFA-6C7E-4F8E-8A6B-A748036A73C5}"/>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8" name="Footer Placeholder 7">
            <a:extLst>
              <a:ext uri="{FF2B5EF4-FFF2-40B4-BE49-F238E27FC236}">
                <a16:creationId xmlns:a16="http://schemas.microsoft.com/office/drawing/2014/main" id="{6C7BDDC4-AB18-4DE4-B9F2-6EA962B6FD23}"/>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6F4FFF1B-5263-45E8-8D35-DF01D0947656}"/>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194091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9336-79C2-4952-B3CC-990C074CEF2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C9746F42-0252-40AC-9333-3B14EFDEAA73}"/>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4" name="Footer Placeholder 3">
            <a:extLst>
              <a:ext uri="{FF2B5EF4-FFF2-40B4-BE49-F238E27FC236}">
                <a16:creationId xmlns:a16="http://schemas.microsoft.com/office/drawing/2014/main" id="{0A694981-C388-4F64-B1A9-4B44A3C1942D}"/>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C97EE654-8BEB-4E16-8FA7-27D932905C36}"/>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191906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9F423-6286-42DC-AE0C-1B646E88089D}"/>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3" name="Footer Placeholder 2">
            <a:extLst>
              <a:ext uri="{FF2B5EF4-FFF2-40B4-BE49-F238E27FC236}">
                <a16:creationId xmlns:a16="http://schemas.microsoft.com/office/drawing/2014/main" id="{5D88A1AC-3CF4-483C-BDFF-874F1285C317}"/>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CD26E431-3330-42D8-8DA0-36A33C446FEC}"/>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909480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2BC77-32DC-4049-B57A-834DBACE09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EFBA4C1-3319-4636-A8FC-D88F831BF3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9ADA55DD-7568-42EB-865F-8A2143AC7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51D6F4-62BD-4C72-B587-6D5C04579A55}"/>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6" name="Footer Placeholder 5">
            <a:extLst>
              <a:ext uri="{FF2B5EF4-FFF2-40B4-BE49-F238E27FC236}">
                <a16:creationId xmlns:a16="http://schemas.microsoft.com/office/drawing/2014/main" id="{CDBF507C-D4A8-4DD0-B48A-416A8447757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BB7B2E0-9CFD-48B1-AAE8-5848E15BDFE0}"/>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969701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398A6-39B2-4329-B998-7A53DA5B9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68D04EC8-6E45-4C0B-8925-69D9399B99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A86DD187-F19F-478D-9B47-7629F14EA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A553B0-DDE6-4A7B-849A-8D0673C137C5}"/>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6" name="Footer Placeholder 5">
            <a:extLst>
              <a:ext uri="{FF2B5EF4-FFF2-40B4-BE49-F238E27FC236}">
                <a16:creationId xmlns:a16="http://schemas.microsoft.com/office/drawing/2014/main" id="{91FF5786-E11D-4B59-8DAB-85F4DF3FF41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ACB1A49-6373-41F7-8F4C-4E0308856031}"/>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78390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B83C-57AE-4751-96C6-16424610E51F}"/>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61B553E-1ACE-4A3B-BD5C-3A2C37E1B7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BD8F971-679C-468D-B185-7D637C31A1C3}"/>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5" name="Footer Placeholder 4">
            <a:extLst>
              <a:ext uri="{FF2B5EF4-FFF2-40B4-BE49-F238E27FC236}">
                <a16:creationId xmlns:a16="http://schemas.microsoft.com/office/drawing/2014/main" id="{0C855149-EA4B-48E9-B518-08311FF0672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7FD8DFE-7267-4024-9134-7AF0CE178744}"/>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110984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D49258-7DC3-4369-9526-067BE43E4C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F5D5D3EC-4037-41ED-AFD7-9302126008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E4FF1FE-3B3B-4F0A-A874-EE2B0C01A16D}"/>
              </a:ext>
            </a:extLst>
          </p:cNvPr>
          <p:cNvSpPr>
            <a:spLocks noGrp="1"/>
          </p:cNvSpPr>
          <p:nvPr>
            <p:ph type="dt" sz="half" idx="10"/>
          </p:nvPr>
        </p:nvSpPr>
        <p:spPr/>
        <p:txBody>
          <a:bodyPr/>
          <a:lstStyle/>
          <a:p>
            <a:fld id="{4E1341C1-FD81-48EA-B020-1DD5EF3E31FB}" type="datetimeFigureOut">
              <a:rPr lang="en-PH" smtClean="0"/>
              <a:t>30/06/2023</a:t>
            </a:fld>
            <a:endParaRPr lang="en-PH"/>
          </a:p>
        </p:txBody>
      </p:sp>
      <p:sp>
        <p:nvSpPr>
          <p:cNvPr id="5" name="Footer Placeholder 4">
            <a:extLst>
              <a:ext uri="{FF2B5EF4-FFF2-40B4-BE49-F238E27FC236}">
                <a16:creationId xmlns:a16="http://schemas.microsoft.com/office/drawing/2014/main" id="{09BF3365-C142-4C74-8862-3FF42B4BE6C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07E5A64-3DCD-4A24-9AE7-23CE8E2689DD}"/>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71694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2CB27-B344-49D4-9EEA-16971D37B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0EE9FC1B-F001-4ECD-9F6A-9CF05991F3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38A6C71-2C0F-41D8-ADA1-450E4F5D9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1341C1-FD81-48EA-B020-1DD5EF3E31FB}" type="datetimeFigureOut">
              <a:rPr lang="en-PH" smtClean="0"/>
              <a:t>30/06/2023</a:t>
            </a:fld>
            <a:endParaRPr lang="en-PH"/>
          </a:p>
        </p:txBody>
      </p:sp>
      <p:sp>
        <p:nvSpPr>
          <p:cNvPr id="5" name="Footer Placeholder 4">
            <a:extLst>
              <a:ext uri="{FF2B5EF4-FFF2-40B4-BE49-F238E27FC236}">
                <a16:creationId xmlns:a16="http://schemas.microsoft.com/office/drawing/2014/main" id="{7A8E3990-3812-4940-B5CA-3800964D44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98097B16-282F-45E7-BB1C-80A9AFC2AA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C1F782-C553-4B23-9D38-A3AB8A18CB25}" type="slidenum">
              <a:rPr lang="en-PH" smtClean="0"/>
              <a:t>‹#›</a:t>
            </a:fld>
            <a:endParaRPr lang="en-PH"/>
          </a:p>
        </p:txBody>
      </p:sp>
    </p:spTree>
    <p:extLst>
      <p:ext uri="{BB962C8B-B14F-4D97-AF65-F5344CB8AC3E}">
        <p14:creationId xmlns:p14="http://schemas.microsoft.com/office/powerpoint/2010/main" val="4013798314"/>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C6B2F-1774-4756-BBB9-C09E9C0BB963}"/>
              </a:ext>
            </a:extLst>
          </p:cNvPr>
          <p:cNvSpPr>
            <a:spLocks noGrp="1"/>
          </p:cNvSpPr>
          <p:nvPr>
            <p:ph type="ctrTitle"/>
          </p:nvPr>
        </p:nvSpPr>
        <p:spPr>
          <a:xfrm>
            <a:off x="6570690" y="2737036"/>
            <a:ext cx="5191433" cy="1383928"/>
          </a:xfrm>
        </p:spPr>
        <p:txBody>
          <a:bodyPr>
            <a:noAutofit/>
          </a:bodyPr>
          <a:lstStyle/>
          <a:p>
            <a:br>
              <a:rPr lang="en-PH" sz="3600" b="1" dirty="0">
                <a:latin typeface="Tw Cen MT" panose="020B0602020104020603" pitchFamily="34" charset="0"/>
              </a:rPr>
            </a:br>
            <a:r>
              <a:rPr lang="en-PH" sz="4000" b="1" dirty="0">
                <a:latin typeface="Tw Cen MT" panose="020B0602020104020603" pitchFamily="34" charset="0"/>
              </a:rPr>
              <a:t>Machine Learning: Neural Networks using a Multilayer Perceptron</a:t>
            </a:r>
            <a:endParaRPr lang="en-PH" sz="3600" b="1" dirty="0">
              <a:latin typeface="Tw Cen MT" panose="020B0602020104020603" pitchFamily="34" charset="0"/>
            </a:endParaRPr>
          </a:p>
        </p:txBody>
      </p:sp>
      <p:sp>
        <p:nvSpPr>
          <p:cNvPr id="3" name="Subtitle 2">
            <a:extLst>
              <a:ext uri="{FF2B5EF4-FFF2-40B4-BE49-F238E27FC236}">
                <a16:creationId xmlns:a16="http://schemas.microsoft.com/office/drawing/2014/main" id="{BEC08A26-8F90-4FB3-9B52-739E658827FC}"/>
              </a:ext>
            </a:extLst>
          </p:cNvPr>
          <p:cNvSpPr>
            <a:spLocks noGrp="1"/>
          </p:cNvSpPr>
          <p:nvPr>
            <p:ph type="subTitle" idx="1"/>
          </p:nvPr>
        </p:nvSpPr>
        <p:spPr>
          <a:xfrm>
            <a:off x="5896303" y="6223210"/>
            <a:ext cx="6295697" cy="1269580"/>
          </a:xfrm>
        </p:spPr>
        <p:txBody>
          <a:bodyPr>
            <a:normAutofit/>
          </a:bodyPr>
          <a:lstStyle/>
          <a:p>
            <a:pPr algn="r"/>
            <a:r>
              <a:rPr lang="en-PH" sz="1600" dirty="0">
                <a:latin typeface="Tw Cen MT" panose="020B0602020104020603" pitchFamily="34" charset="0"/>
              </a:rPr>
              <a:t>Presented by </a:t>
            </a:r>
            <a:r>
              <a:rPr lang="en-PH" sz="1600" b="1" dirty="0">
                <a:latin typeface="Tw Cen MT" panose="020B0602020104020603" pitchFamily="34" charset="0"/>
              </a:rPr>
              <a:t>Soriano, Edneil E. Jr. </a:t>
            </a:r>
          </a:p>
          <a:p>
            <a:pPr algn="r"/>
            <a:r>
              <a:rPr lang="en-PH" sz="1600" dirty="0">
                <a:latin typeface="Tw Cen MT" panose="020B0602020104020603" pitchFamily="34" charset="0"/>
              </a:rPr>
              <a:t>S.N. </a:t>
            </a:r>
            <a:r>
              <a:rPr lang="en-PH" sz="1600" b="1" dirty="0">
                <a:latin typeface="Tw Cen MT" panose="020B0602020104020603" pitchFamily="34" charset="0"/>
              </a:rPr>
              <a:t>202002420 </a:t>
            </a:r>
          </a:p>
        </p:txBody>
      </p:sp>
      <p:cxnSp>
        <p:nvCxnSpPr>
          <p:cNvPr id="5" name="Straight Connector 4">
            <a:extLst>
              <a:ext uri="{FF2B5EF4-FFF2-40B4-BE49-F238E27FC236}">
                <a16:creationId xmlns:a16="http://schemas.microsoft.com/office/drawing/2014/main" id="{BD2C88DF-D94F-422C-8AA1-64E77A418DFA}"/>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0D5201B6-FAA6-48E5-83E6-0B3F73A5D4B3}"/>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1 </a:t>
            </a:r>
            <a:r>
              <a:rPr lang="en-PH" dirty="0"/>
              <a:t>of 6 </a:t>
            </a:r>
            <a:endParaRPr lang="en-PH" b="1" dirty="0"/>
          </a:p>
        </p:txBody>
      </p:sp>
      <p:pic>
        <p:nvPicPr>
          <p:cNvPr id="1030" name="Picture 6">
            <a:extLst>
              <a:ext uri="{FF2B5EF4-FFF2-40B4-BE49-F238E27FC236}">
                <a16:creationId xmlns:a16="http://schemas.microsoft.com/office/drawing/2014/main" id="{2A5A94FD-2CB5-4F3D-8330-3D2A11725E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99" y="625385"/>
            <a:ext cx="2303250" cy="246278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4C189FC-6CBE-485F-9849-09E0F379E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750" y="625385"/>
            <a:ext cx="2303250" cy="246278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88B767EC-3CCB-498A-824C-1876FA1C51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1914" y="3137695"/>
            <a:ext cx="4973903" cy="3582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707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D1D3-DCED-41F9-A947-8D74C6B3C416}"/>
              </a:ext>
            </a:extLst>
          </p:cNvPr>
          <p:cNvSpPr>
            <a:spLocks noGrp="1"/>
          </p:cNvSpPr>
          <p:nvPr>
            <p:ph type="title"/>
          </p:nvPr>
        </p:nvSpPr>
        <p:spPr>
          <a:xfrm>
            <a:off x="241739" y="365125"/>
            <a:ext cx="11112061" cy="1325563"/>
          </a:xfrm>
        </p:spPr>
        <p:txBody>
          <a:bodyPr/>
          <a:lstStyle/>
          <a:p>
            <a:r>
              <a:rPr lang="en-PH" dirty="0">
                <a:latin typeface="Tw Cen MT" panose="020B0602020104020603" pitchFamily="34" charset="0"/>
              </a:rPr>
              <a:t>Objectives </a:t>
            </a:r>
          </a:p>
        </p:txBody>
      </p:sp>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a:off x="534713" y="1730017"/>
            <a:ext cx="11027979" cy="4317639"/>
          </a:xfrm>
        </p:spPr>
        <p:txBody>
          <a:bodyPr>
            <a:normAutofit/>
          </a:bodyPr>
          <a:lstStyle/>
          <a:p>
            <a:pPr algn="just">
              <a:buFont typeface="Wingdings" panose="05000000000000000000" pitchFamily="2" charset="2"/>
              <a:buChar char="§"/>
            </a:pPr>
            <a:r>
              <a:rPr lang="en-PH" sz="3200" dirty="0">
                <a:latin typeface="Tw Cen MT" panose="020B0602020104020603" pitchFamily="34" charset="0"/>
              </a:rPr>
              <a:t>To determine on how to extend the mechanisms of a perceptron in making a neural network</a:t>
            </a:r>
          </a:p>
          <a:p>
            <a:pPr marL="0" indent="0" algn="just">
              <a:buNone/>
            </a:pPr>
            <a:endParaRPr lang="en-PH" sz="3200" dirty="0">
              <a:latin typeface="Tw Cen MT" panose="020B0602020104020603" pitchFamily="34" charset="0"/>
            </a:endParaRPr>
          </a:p>
          <a:p>
            <a:pPr algn="just">
              <a:buFont typeface="Wingdings" panose="05000000000000000000" pitchFamily="2" charset="2"/>
              <a:buChar char="§"/>
            </a:pPr>
            <a:r>
              <a:rPr lang="en-PH" sz="3200" dirty="0">
                <a:latin typeface="Tw Cen MT" panose="020B0602020104020603" pitchFamily="34" charset="0"/>
              </a:rPr>
              <a:t>To train a neural network that can classify the NMIST dataset up to a 95% accuracy</a:t>
            </a:r>
          </a:p>
          <a:p>
            <a:pPr marL="0" indent="0" algn="just">
              <a:buNone/>
            </a:pP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2 </a:t>
            </a:r>
            <a:r>
              <a:rPr lang="en-PH" dirty="0"/>
              <a:t>of 6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7106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3 </a:t>
            </a:r>
            <a:r>
              <a:rPr lang="en-PH" dirty="0"/>
              <a:t>of 6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5" y="586055"/>
            <a:ext cx="10655325" cy="646331"/>
          </a:xfrm>
          <a:prstGeom prst="rect">
            <a:avLst/>
          </a:prstGeom>
          <a:noFill/>
        </p:spPr>
        <p:txBody>
          <a:bodyPr wrap="square">
            <a:spAutoFit/>
          </a:bodyPr>
          <a:lstStyle/>
          <a:p>
            <a:r>
              <a:rPr lang="en-PH" sz="3600" dirty="0">
                <a:latin typeface="Tw Cen MT" panose="020B0602020104020603" pitchFamily="34" charset="0"/>
              </a:rPr>
              <a:t>NMIST and the Input Layer</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4" y="1206263"/>
            <a:ext cx="5731142" cy="3139321"/>
          </a:xfrm>
          <a:prstGeom prst="rect">
            <a:avLst/>
          </a:prstGeom>
          <a:noFill/>
        </p:spPr>
        <p:txBody>
          <a:bodyPr wrap="square">
            <a:spAutoFit/>
          </a:bodyPr>
          <a:lstStyle/>
          <a:p>
            <a:pPr algn="just"/>
            <a:r>
              <a:rPr lang="en-PH" dirty="0">
                <a:latin typeface="Tw Cen MT" panose="020B0602020104020603" pitchFamily="34" charset="0"/>
              </a:rPr>
              <a:t>In previous exercises, we trained a perceptron and used logistic regression as classifiers – the former with a binary nature and the latter a continuous one.  An alternative way of looking at these models is as a neural network with N input layers, a single neuron in the hidden layer representing the single activation function, and an output neuron. </a:t>
            </a:r>
          </a:p>
          <a:p>
            <a:pPr algn="just"/>
            <a:endParaRPr lang="en-PH" dirty="0">
              <a:latin typeface="Tw Cen MT" panose="020B0602020104020603" pitchFamily="34" charset="0"/>
            </a:endParaRPr>
          </a:p>
          <a:p>
            <a:pPr algn="just"/>
            <a:r>
              <a:rPr lang="en-PH" dirty="0">
                <a:latin typeface="Tw Cen MT" panose="020B0602020104020603" pitchFamily="34" charset="0"/>
              </a:rPr>
              <a:t>Hence in making a full neural network, what we do is add more neurons to the hidden layer, and then add the desired amount of neurons in the output layer as seen in Fig 1. </a:t>
            </a:r>
          </a:p>
          <a:p>
            <a:pPr algn="just"/>
            <a:endParaRPr lang="en-PH" dirty="0">
              <a:latin typeface="Tw Cen MT" panose="020B0602020104020603" pitchFamily="34" charset="0"/>
            </a:endParaRPr>
          </a:p>
        </p:txBody>
      </p:sp>
      <p:sp>
        <p:nvSpPr>
          <p:cNvPr id="13" name="TextBox 12">
            <a:extLst>
              <a:ext uri="{FF2B5EF4-FFF2-40B4-BE49-F238E27FC236}">
                <a16:creationId xmlns:a16="http://schemas.microsoft.com/office/drawing/2014/main" id="{1CB2F6CF-FD57-4587-BA7E-5E4B573A9924}"/>
              </a:ext>
            </a:extLst>
          </p:cNvPr>
          <p:cNvSpPr txBox="1"/>
          <p:nvPr/>
        </p:nvSpPr>
        <p:spPr>
          <a:xfrm>
            <a:off x="-19116" y="6271945"/>
            <a:ext cx="5885239" cy="584775"/>
          </a:xfrm>
          <a:prstGeom prst="rect">
            <a:avLst/>
          </a:prstGeom>
          <a:noFill/>
        </p:spPr>
        <p:txBody>
          <a:bodyPr wrap="square">
            <a:spAutoFit/>
          </a:bodyPr>
          <a:lstStyle/>
          <a:p>
            <a:pPr algn="ctr"/>
            <a:r>
              <a:rPr lang="en-US" sz="1600" dirty="0">
                <a:latin typeface="Tw Cen MT" panose="020B0602020104020603" pitchFamily="34" charset="0"/>
              </a:rPr>
              <a:t>Fig 1.  A sample neural network with 4 neurons in the input, 3 in the hidden layer, and one output. </a:t>
            </a:r>
            <a:r>
              <a:rPr lang="en-US" sz="1600" b="1" dirty="0">
                <a:solidFill>
                  <a:schemeClr val="accent1"/>
                </a:solidFill>
                <a:latin typeface="Tw Cen MT" panose="020B0602020104020603" pitchFamily="34" charset="0"/>
              </a:rPr>
              <a:t>[1]</a:t>
            </a:r>
            <a:endParaRPr lang="en-PH" sz="800" b="1" dirty="0">
              <a:solidFill>
                <a:schemeClr val="accent1"/>
              </a:solidFill>
              <a:latin typeface="Tw Cen MT" panose="020B0602020104020603" pitchFamily="34" charset="0"/>
            </a:endParaRPr>
          </a:p>
        </p:txBody>
      </p:sp>
      <p:sp>
        <p:nvSpPr>
          <p:cNvPr id="17" name="TextBox 16">
            <a:extLst>
              <a:ext uri="{FF2B5EF4-FFF2-40B4-BE49-F238E27FC236}">
                <a16:creationId xmlns:a16="http://schemas.microsoft.com/office/drawing/2014/main" id="{030FF339-DF4D-4637-8631-61FA4AC38D23}"/>
              </a:ext>
            </a:extLst>
          </p:cNvPr>
          <p:cNvSpPr txBox="1"/>
          <p:nvPr/>
        </p:nvSpPr>
        <p:spPr>
          <a:xfrm>
            <a:off x="5985334" y="678389"/>
            <a:ext cx="5955045" cy="4401205"/>
          </a:xfrm>
          <a:prstGeom prst="rect">
            <a:avLst/>
          </a:prstGeom>
          <a:noFill/>
        </p:spPr>
        <p:txBody>
          <a:bodyPr wrap="square">
            <a:spAutoFit/>
          </a:bodyPr>
          <a:lstStyle/>
          <a:p>
            <a:pPr algn="just">
              <a:spcAft>
                <a:spcPts val="600"/>
              </a:spcAft>
            </a:pPr>
            <a:r>
              <a:rPr lang="en-PH" dirty="0">
                <a:latin typeface="Tw Cen MT" panose="020B0602020104020603" pitchFamily="34" charset="0"/>
              </a:rPr>
              <a:t>The input layer consists of normalized parameters that we want to use in order to train our network. In making a perceptron we had two neurons in the input layer that held the two features I’ve chosen namely eccentricities and mean grayscales of our fruit data. The same was done for the input layer of the previous logistic regression. However for this activity, we do something much more complicated…</a:t>
            </a:r>
          </a:p>
          <a:p>
            <a:pPr algn="just"/>
            <a:r>
              <a:rPr lang="en-PH" dirty="0">
                <a:latin typeface="Tw Cen MT" panose="020B0602020104020603" pitchFamily="34" charset="0"/>
              </a:rPr>
              <a:t>The NMIST is a commonly used database for evaluating the performance of neural networks. It consists of handwritten digits in a 24 </a:t>
            </a:r>
            <a:r>
              <a:rPr lang="en-PH" b="0" i="0" dirty="0">
                <a:solidFill>
                  <a:srgbClr val="202124"/>
                </a:solidFill>
                <a:effectLst/>
                <a:latin typeface="Google Sans"/>
              </a:rPr>
              <a:t>× </a:t>
            </a:r>
            <a:r>
              <a:rPr lang="en-PH" dirty="0">
                <a:solidFill>
                  <a:srgbClr val="202124"/>
                </a:solidFill>
                <a:latin typeface="Tw Cen MT" panose="020B0602020104020603" pitchFamily="34" charset="0"/>
              </a:rPr>
              <a:t>24 grid correctly classified by humans. We use all 60,000 training images and 10,000 test images in training our neural network. A sample of the dataset is shown below in Fig 2. </a:t>
            </a:r>
            <a:endParaRPr lang="en-PH" dirty="0">
              <a:latin typeface="Tw Cen MT" panose="020B0602020104020603" pitchFamily="34" charset="0"/>
            </a:endParaRPr>
          </a:p>
          <a:p>
            <a:pPr algn="just"/>
            <a:endParaRPr lang="en-PH" b="1" dirty="0">
              <a:latin typeface="Tw Cen MT" panose="020B0602020104020603" pitchFamily="34" charset="0"/>
            </a:endParaRPr>
          </a:p>
          <a:p>
            <a:pPr algn="just"/>
            <a:endParaRPr lang="en-PH" dirty="0">
              <a:latin typeface="Tw Cen MT" panose="020B0602020104020603" pitchFamily="34" charset="0"/>
            </a:endParaRPr>
          </a:p>
        </p:txBody>
      </p:sp>
      <p:sp>
        <p:nvSpPr>
          <p:cNvPr id="20" name="TextBox 19">
            <a:extLst>
              <a:ext uri="{FF2B5EF4-FFF2-40B4-BE49-F238E27FC236}">
                <a16:creationId xmlns:a16="http://schemas.microsoft.com/office/drawing/2014/main" id="{3C9818CE-04BD-4860-8D7A-61E7C250B8E5}"/>
              </a:ext>
            </a:extLst>
          </p:cNvPr>
          <p:cNvSpPr txBox="1"/>
          <p:nvPr/>
        </p:nvSpPr>
        <p:spPr>
          <a:xfrm>
            <a:off x="5965571" y="5608989"/>
            <a:ext cx="5885239" cy="338554"/>
          </a:xfrm>
          <a:prstGeom prst="rect">
            <a:avLst/>
          </a:prstGeom>
          <a:noFill/>
        </p:spPr>
        <p:txBody>
          <a:bodyPr wrap="square">
            <a:spAutoFit/>
          </a:bodyPr>
          <a:lstStyle/>
          <a:p>
            <a:pPr algn="ctr"/>
            <a:r>
              <a:rPr lang="en-US" sz="1600" dirty="0">
                <a:latin typeface="Tw Cen MT" panose="020B0602020104020603" pitchFamily="34" charset="0"/>
              </a:rPr>
              <a:t>Fig 2.  The first training and testing image in the NMIST dataset </a:t>
            </a:r>
            <a:r>
              <a:rPr lang="en-US" sz="1600" b="1" dirty="0">
                <a:solidFill>
                  <a:schemeClr val="accent1"/>
                </a:solidFill>
                <a:latin typeface="Tw Cen MT" panose="020B0602020104020603" pitchFamily="34" charset="0"/>
              </a:rPr>
              <a:t>[2]</a:t>
            </a:r>
            <a:r>
              <a:rPr lang="en-US" sz="1600" dirty="0">
                <a:latin typeface="Tw Cen MT" panose="020B0602020104020603" pitchFamily="34" charset="0"/>
              </a:rPr>
              <a:t> </a:t>
            </a:r>
            <a:endParaRPr lang="en-PH" sz="800" dirty="0">
              <a:latin typeface="Tw Cen MT" panose="020B0602020104020603" pitchFamily="34" charset="0"/>
            </a:endParaRPr>
          </a:p>
        </p:txBody>
      </p:sp>
      <p:sp>
        <p:nvSpPr>
          <p:cNvPr id="22" name="TextBox 21">
            <a:extLst>
              <a:ext uri="{FF2B5EF4-FFF2-40B4-BE49-F238E27FC236}">
                <a16:creationId xmlns:a16="http://schemas.microsoft.com/office/drawing/2014/main" id="{67665383-0FAF-4AE3-946D-90B9AE270B9A}"/>
              </a:ext>
            </a:extLst>
          </p:cNvPr>
          <p:cNvSpPr txBox="1"/>
          <p:nvPr/>
        </p:nvSpPr>
        <p:spPr>
          <a:xfrm>
            <a:off x="5866122" y="5947543"/>
            <a:ext cx="6084138" cy="1200329"/>
          </a:xfrm>
          <a:prstGeom prst="rect">
            <a:avLst/>
          </a:prstGeom>
          <a:noFill/>
        </p:spPr>
        <p:txBody>
          <a:bodyPr wrap="square">
            <a:spAutoFit/>
          </a:bodyPr>
          <a:lstStyle/>
          <a:p>
            <a:pPr algn="just"/>
            <a:r>
              <a:rPr lang="en-PH" b="1" dirty="0">
                <a:latin typeface="Tw Cen MT" panose="020B0602020104020603" pitchFamily="34" charset="0"/>
              </a:rPr>
              <a:t>In training the neural network, we treat each pixel in this grid as a neuron in the input layer. Hence, we can think of the model as taking into account 784 features for training.</a:t>
            </a:r>
            <a:endParaRPr lang="en-PH" dirty="0">
              <a:latin typeface="Tw Cen MT" panose="020B0602020104020603" pitchFamily="34" charset="0"/>
            </a:endParaRPr>
          </a:p>
          <a:p>
            <a:pPr algn="just"/>
            <a:endParaRPr lang="en-PH" dirty="0">
              <a:latin typeface="Tw Cen MT" panose="020B0602020104020603" pitchFamily="34" charset="0"/>
            </a:endParaRPr>
          </a:p>
        </p:txBody>
      </p:sp>
      <p:pic>
        <p:nvPicPr>
          <p:cNvPr id="6" name="Picture 5">
            <a:extLst>
              <a:ext uri="{FF2B5EF4-FFF2-40B4-BE49-F238E27FC236}">
                <a16:creationId xmlns:a16="http://schemas.microsoft.com/office/drawing/2014/main" id="{F0522BA2-A982-4141-B61A-87093171DA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5054" y="3993240"/>
            <a:ext cx="3276898" cy="2278705"/>
          </a:xfrm>
          <a:prstGeom prst="rect">
            <a:avLst/>
          </a:prstGeom>
        </p:spPr>
      </p:pic>
      <p:pic>
        <p:nvPicPr>
          <p:cNvPr id="18" name="Picture 6">
            <a:extLst>
              <a:ext uri="{FF2B5EF4-FFF2-40B4-BE49-F238E27FC236}">
                <a16:creationId xmlns:a16="http://schemas.microsoft.com/office/drawing/2014/main" id="{557A438A-DCCC-4CB4-9ADD-D498DD4BD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9518" y="4140022"/>
            <a:ext cx="1399222" cy="149613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a:extLst>
              <a:ext uri="{FF2B5EF4-FFF2-40B4-BE49-F238E27FC236}">
                <a16:creationId xmlns:a16="http://schemas.microsoft.com/office/drawing/2014/main" id="{0C5941AD-A109-46AA-AE28-378D502DE4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8740" y="4140022"/>
            <a:ext cx="1399222" cy="1496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167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4 </a:t>
            </a:r>
            <a:r>
              <a:rPr lang="en-PH" dirty="0"/>
              <a:t>of 6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5" y="586055"/>
            <a:ext cx="7298683" cy="646331"/>
          </a:xfrm>
          <a:prstGeom prst="rect">
            <a:avLst/>
          </a:prstGeom>
          <a:noFill/>
        </p:spPr>
        <p:txBody>
          <a:bodyPr wrap="square">
            <a:spAutoFit/>
          </a:bodyPr>
          <a:lstStyle/>
          <a:p>
            <a:r>
              <a:rPr lang="en-PH" sz="3600" dirty="0">
                <a:latin typeface="Tw Cen MT" panose="020B0602020104020603" pitchFamily="34" charset="0"/>
              </a:rPr>
              <a:t>Training</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5" y="1301376"/>
            <a:ext cx="5948855" cy="2385268"/>
          </a:xfrm>
          <a:prstGeom prst="rect">
            <a:avLst/>
          </a:prstGeom>
          <a:noFill/>
        </p:spPr>
        <p:txBody>
          <a:bodyPr wrap="square">
            <a:spAutoFit/>
          </a:bodyPr>
          <a:lstStyle/>
          <a:p>
            <a:pPr algn="just">
              <a:spcAft>
                <a:spcPts val="600"/>
              </a:spcAft>
            </a:pPr>
            <a:r>
              <a:rPr lang="en-PH" b="1" dirty="0">
                <a:latin typeface="Tw Cen MT" panose="020B0602020104020603" pitchFamily="34" charset="0"/>
              </a:rPr>
              <a:t>In this particular example, I decided to feed this input layer to one single hidden layer comprising 30 neurons. </a:t>
            </a:r>
            <a:r>
              <a:rPr lang="en-PH" dirty="0">
                <a:latin typeface="Tw Cen MT" panose="020B0602020104020603" pitchFamily="34" charset="0"/>
              </a:rPr>
              <a:t>This choice is completely arbitrary but since it produced the accuracy I want we’re sticking with it. </a:t>
            </a:r>
          </a:p>
          <a:p>
            <a:pPr algn="just"/>
            <a:r>
              <a:rPr lang="en-PH" dirty="0">
                <a:latin typeface="Tw Cen MT" panose="020B0602020104020603" pitchFamily="34" charset="0"/>
              </a:rPr>
              <a:t>To derive the algorithm we will use, assume we have a neural networks with hidden layers and with corresponding weights and biases in each layer. I have written it in LaTeX because using </a:t>
            </a:r>
            <a:r>
              <a:rPr lang="en-PH" dirty="0" err="1">
                <a:latin typeface="Tw Cen MT" panose="020B0602020104020603" pitchFamily="34" charset="0"/>
              </a:rPr>
              <a:t>Powerpoint</a:t>
            </a:r>
            <a:r>
              <a:rPr lang="en-PH" dirty="0">
                <a:latin typeface="Tw Cen MT" panose="020B0602020104020603" pitchFamily="34" charset="0"/>
              </a:rPr>
              <a:t> would be weird…</a:t>
            </a:r>
          </a:p>
        </p:txBody>
      </p:sp>
      <p:pic>
        <p:nvPicPr>
          <p:cNvPr id="6" name="Picture 5">
            <a:extLst>
              <a:ext uri="{FF2B5EF4-FFF2-40B4-BE49-F238E27FC236}">
                <a16:creationId xmlns:a16="http://schemas.microsoft.com/office/drawing/2014/main" id="{08D0A563-397A-4090-B20F-5714ECFA17EC}"/>
              </a:ext>
            </a:extLst>
          </p:cNvPr>
          <p:cNvPicPr>
            <a:picLocks noChangeAspect="1"/>
          </p:cNvPicPr>
          <p:nvPr/>
        </p:nvPicPr>
        <p:blipFill rotWithShape="1">
          <a:blip r:embed="rId2">
            <a:extLst>
              <a:ext uri="{28A0092B-C50C-407E-A947-70E740481C1C}">
                <a14:useLocalDpi xmlns:a14="http://schemas.microsoft.com/office/drawing/2010/main" val="0"/>
              </a:ext>
            </a:extLst>
          </a:blip>
          <a:srcRect l="11005" t="31076" r="7038"/>
          <a:stretch/>
        </p:blipFill>
        <p:spPr>
          <a:xfrm>
            <a:off x="6240915" y="608195"/>
            <a:ext cx="5445318" cy="5392705"/>
          </a:xfrm>
          <a:prstGeom prst="rect">
            <a:avLst/>
          </a:prstGeom>
        </p:spPr>
      </p:pic>
      <p:pic>
        <p:nvPicPr>
          <p:cNvPr id="9" name="Picture 8">
            <a:extLst>
              <a:ext uri="{FF2B5EF4-FFF2-40B4-BE49-F238E27FC236}">
                <a16:creationId xmlns:a16="http://schemas.microsoft.com/office/drawing/2014/main" id="{0A6271A2-B0A8-420C-B26B-09A63F4C986A}"/>
              </a:ext>
            </a:extLst>
          </p:cNvPr>
          <p:cNvPicPr>
            <a:picLocks noChangeAspect="1"/>
          </p:cNvPicPr>
          <p:nvPr/>
        </p:nvPicPr>
        <p:blipFill rotWithShape="1">
          <a:blip r:embed="rId2">
            <a:extLst>
              <a:ext uri="{28A0092B-C50C-407E-A947-70E740481C1C}">
                <a14:useLocalDpi xmlns:a14="http://schemas.microsoft.com/office/drawing/2010/main" val="0"/>
              </a:ext>
            </a:extLst>
          </a:blip>
          <a:srcRect l="9721" r="8012" b="68130"/>
          <a:stretch/>
        </p:blipFill>
        <p:spPr>
          <a:xfrm>
            <a:off x="122810" y="3755634"/>
            <a:ext cx="5973190" cy="2724917"/>
          </a:xfrm>
          <a:prstGeom prst="rect">
            <a:avLst/>
          </a:prstGeom>
        </p:spPr>
      </p:pic>
      <p:sp>
        <p:nvSpPr>
          <p:cNvPr id="17" name="TextBox 16">
            <a:extLst>
              <a:ext uri="{FF2B5EF4-FFF2-40B4-BE49-F238E27FC236}">
                <a16:creationId xmlns:a16="http://schemas.microsoft.com/office/drawing/2014/main" id="{CB6A6EE9-6944-4103-9E66-E801C33B01F2}"/>
              </a:ext>
            </a:extLst>
          </p:cNvPr>
          <p:cNvSpPr txBox="1"/>
          <p:nvPr/>
        </p:nvSpPr>
        <p:spPr>
          <a:xfrm>
            <a:off x="6120335" y="5934670"/>
            <a:ext cx="5948855" cy="923330"/>
          </a:xfrm>
          <a:prstGeom prst="rect">
            <a:avLst/>
          </a:prstGeom>
          <a:noFill/>
        </p:spPr>
        <p:txBody>
          <a:bodyPr wrap="square">
            <a:spAutoFit/>
          </a:bodyPr>
          <a:lstStyle/>
          <a:p>
            <a:pPr algn="just">
              <a:spcAft>
                <a:spcPts val="600"/>
              </a:spcAft>
            </a:pPr>
            <a:r>
              <a:rPr lang="en-PH" dirty="0">
                <a:latin typeface="Tw Cen MT" panose="020B0602020104020603" pitchFamily="34" charset="0"/>
              </a:rPr>
              <a:t>To shorten runtimes, I also utilized </a:t>
            </a:r>
            <a:r>
              <a:rPr lang="en-PH" b="1" dirty="0">
                <a:latin typeface="Tw Cen MT" panose="020B0602020104020603" pitchFamily="34" charset="0"/>
              </a:rPr>
              <a:t>Stochastic Gradient Descent (SGD) </a:t>
            </a:r>
            <a:r>
              <a:rPr lang="en-PH" dirty="0">
                <a:latin typeface="Tw Cen MT" panose="020B0602020104020603" pitchFamily="34" charset="0"/>
              </a:rPr>
              <a:t>which basically just translates to dividing the training data into batches, then using backpropagation on each. </a:t>
            </a:r>
          </a:p>
        </p:txBody>
      </p:sp>
    </p:spTree>
    <p:extLst>
      <p:ext uri="{BB962C8B-B14F-4D97-AF65-F5344CB8AC3E}">
        <p14:creationId xmlns:p14="http://schemas.microsoft.com/office/powerpoint/2010/main" val="139943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5 </a:t>
            </a:r>
            <a:r>
              <a:rPr lang="en-PH" dirty="0"/>
              <a:t>of 6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4" y="594822"/>
            <a:ext cx="7298683" cy="646331"/>
          </a:xfrm>
          <a:prstGeom prst="rect">
            <a:avLst/>
          </a:prstGeom>
          <a:noFill/>
        </p:spPr>
        <p:txBody>
          <a:bodyPr wrap="square">
            <a:spAutoFit/>
          </a:bodyPr>
          <a:lstStyle/>
          <a:p>
            <a:r>
              <a:rPr lang="en-PH" sz="3600" dirty="0">
                <a:latin typeface="Tw Cen MT" panose="020B0602020104020603" pitchFamily="34" charset="0"/>
              </a:rPr>
              <a:t>Performance</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4" y="1232386"/>
            <a:ext cx="5948855" cy="1569660"/>
          </a:xfrm>
          <a:prstGeom prst="rect">
            <a:avLst/>
          </a:prstGeom>
          <a:noFill/>
        </p:spPr>
        <p:txBody>
          <a:bodyPr wrap="square">
            <a:spAutoFit/>
          </a:bodyPr>
          <a:lstStyle/>
          <a:p>
            <a:pPr algn="just">
              <a:spcAft>
                <a:spcPts val="600"/>
              </a:spcAft>
            </a:pPr>
            <a:r>
              <a:rPr lang="en-PH" sz="1600" dirty="0">
                <a:latin typeface="Tw Cen MT" panose="020B0602020104020603" pitchFamily="34" charset="0"/>
              </a:rPr>
              <a:t>The initial weights are assigned at random and are adjusted through our weight change rule. Hence even if we construct the same network without changing any parameters, accuracies may still vary – although these differences are negligible for practical purposes. </a:t>
            </a:r>
            <a:r>
              <a:rPr lang="en-PH" sz="1600" b="1" dirty="0">
                <a:latin typeface="Tw Cen MT" panose="020B0602020104020603" pitchFamily="34" charset="0"/>
              </a:rPr>
              <a:t>In Fig 3. below I show the performance of the same network that was trained for 30 epochs: </a:t>
            </a:r>
          </a:p>
        </p:txBody>
      </p:sp>
      <p:pic>
        <p:nvPicPr>
          <p:cNvPr id="10" name="Picture 10">
            <a:extLst>
              <a:ext uri="{FF2B5EF4-FFF2-40B4-BE49-F238E27FC236}">
                <a16:creationId xmlns:a16="http://schemas.microsoft.com/office/drawing/2014/main" id="{CF360584-47B8-47C4-932B-F8A381E34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15" y="2757030"/>
            <a:ext cx="3158051" cy="22744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513138A-D926-49CF-83AF-81CDC89786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276"/>
          <a:stretch/>
        </p:blipFill>
        <p:spPr bwMode="auto">
          <a:xfrm>
            <a:off x="3110272" y="2757030"/>
            <a:ext cx="2801968" cy="227445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B6E948F-750A-4928-A73A-46B85B5C3A69}"/>
              </a:ext>
            </a:extLst>
          </p:cNvPr>
          <p:cNvSpPr txBox="1"/>
          <p:nvPr/>
        </p:nvSpPr>
        <p:spPr>
          <a:xfrm>
            <a:off x="147144" y="4973020"/>
            <a:ext cx="5765096" cy="523220"/>
          </a:xfrm>
          <a:prstGeom prst="rect">
            <a:avLst/>
          </a:prstGeom>
          <a:noFill/>
        </p:spPr>
        <p:txBody>
          <a:bodyPr wrap="square">
            <a:spAutoFit/>
          </a:bodyPr>
          <a:lstStyle/>
          <a:p>
            <a:pPr algn="ctr"/>
            <a:r>
              <a:rPr lang="en-US" sz="1400" dirty="0">
                <a:latin typeface="Tw Cen MT" panose="020B0602020104020603" pitchFamily="34" charset="0"/>
              </a:rPr>
              <a:t>Fig 3.  A neural network with the number of neurons in each layer being [784, 30, 10], a batch size of 10 for SGD, and learning rate of 3.0</a:t>
            </a:r>
            <a:endParaRPr lang="en-PH" sz="700" dirty="0">
              <a:latin typeface="Tw Cen MT" panose="020B0602020104020603" pitchFamily="34" charset="0"/>
            </a:endParaRPr>
          </a:p>
        </p:txBody>
      </p:sp>
      <p:sp>
        <p:nvSpPr>
          <p:cNvPr id="14" name="TextBox 13">
            <a:extLst>
              <a:ext uri="{FF2B5EF4-FFF2-40B4-BE49-F238E27FC236}">
                <a16:creationId xmlns:a16="http://schemas.microsoft.com/office/drawing/2014/main" id="{7BA770BA-4BCF-47DC-9632-E72457B7F434}"/>
              </a:ext>
            </a:extLst>
          </p:cNvPr>
          <p:cNvSpPr txBox="1"/>
          <p:nvPr/>
        </p:nvSpPr>
        <p:spPr>
          <a:xfrm>
            <a:off x="99848" y="5524361"/>
            <a:ext cx="5948855" cy="1077218"/>
          </a:xfrm>
          <a:prstGeom prst="rect">
            <a:avLst/>
          </a:prstGeom>
          <a:noFill/>
        </p:spPr>
        <p:txBody>
          <a:bodyPr wrap="square">
            <a:spAutoFit/>
          </a:bodyPr>
          <a:lstStyle/>
          <a:p>
            <a:pPr algn="just">
              <a:spcAft>
                <a:spcPts val="600"/>
              </a:spcAft>
            </a:pPr>
            <a:r>
              <a:rPr lang="en-US" sz="1600" b="1" dirty="0">
                <a:latin typeface="Tw Cen MT" panose="020B0602020104020603" pitchFamily="34" charset="0"/>
              </a:rPr>
              <a:t>We can see that the initial conditions of a neural network can dictate how fast it can converge to the most accurate solution. </a:t>
            </a:r>
            <a:r>
              <a:rPr lang="en-US" sz="1600" dirty="0">
                <a:latin typeface="Tw Cen MT" panose="020B0602020104020603" pitchFamily="34" charset="0"/>
              </a:rPr>
              <a:t>Let’s see what happens if we add more layers. In my code implementation, this is really easy to do!</a:t>
            </a:r>
            <a:endParaRPr lang="en-PH" sz="1600" b="1" dirty="0">
              <a:latin typeface="Tw Cen MT" panose="020B0602020104020603" pitchFamily="34" charset="0"/>
            </a:endParaRPr>
          </a:p>
        </p:txBody>
      </p:sp>
      <p:sp>
        <p:nvSpPr>
          <p:cNvPr id="16" name="TextBox 15">
            <a:extLst>
              <a:ext uri="{FF2B5EF4-FFF2-40B4-BE49-F238E27FC236}">
                <a16:creationId xmlns:a16="http://schemas.microsoft.com/office/drawing/2014/main" id="{979C9B70-7ED8-480E-ADEB-A9B0C69B1CB0}"/>
              </a:ext>
            </a:extLst>
          </p:cNvPr>
          <p:cNvSpPr txBox="1"/>
          <p:nvPr/>
        </p:nvSpPr>
        <p:spPr>
          <a:xfrm>
            <a:off x="6360621" y="2808200"/>
            <a:ext cx="5589639" cy="461665"/>
          </a:xfrm>
          <a:prstGeom prst="rect">
            <a:avLst/>
          </a:prstGeom>
          <a:noFill/>
        </p:spPr>
        <p:txBody>
          <a:bodyPr wrap="square">
            <a:spAutoFit/>
          </a:bodyPr>
          <a:lstStyle/>
          <a:p>
            <a:pPr algn="ctr"/>
            <a:r>
              <a:rPr lang="en-US" sz="1200" dirty="0">
                <a:latin typeface="Tw Cen MT" panose="020B0602020104020603" pitchFamily="34" charset="0"/>
              </a:rPr>
              <a:t>Fig 4. Two neural networks with layers having neurons [784, 16, 16, 10] and [784, 16, 16, 16, 10] respectively, with the same batch size and learning rate. </a:t>
            </a:r>
          </a:p>
        </p:txBody>
      </p:sp>
      <p:pic>
        <p:nvPicPr>
          <p:cNvPr id="1030" name="Picture 6">
            <a:extLst>
              <a:ext uri="{FF2B5EF4-FFF2-40B4-BE49-F238E27FC236}">
                <a16:creationId xmlns:a16="http://schemas.microsoft.com/office/drawing/2014/main" id="{4BFABEFD-4DAD-4003-824C-33C39AD9EB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999" y="588836"/>
            <a:ext cx="3158050" cy="227445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4F75C8C8-192A-4BD3-834D-FAB8ED883DF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864"/>
          <a:stretch/>
        </p:blipFill>
        <p:spPr bwMode="auto">
          <a:xfrm>
            <a:off x="9229889" y="587826"/>
            <a:ext cx="2814963" cy="227445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FCC27F9C-A8B7-400A-AD20-D203937050BB}"/>
              </a:ext>
            </a:extLst>
          </p:cNvPr>
          <p:cNvSpPr txBox="1"/>
          <p:nvPr/>
        </p:nvSpPr>
        <p:spPr>
          <a:xfrm>
            <a:off x="6360620" y="3225189"/>
            <a:ext cx="5589639" cy="584775"/>
          </a:xfrm>
          <a:prstGeom prst="rect">
            <a:avLst/>
          </a:prstGeom>
          <a:noFill/>
        </p:spPr>
        <p:txBody>
          <a:bodyPr wrap="square">
            <a:spAutoFit/>
          </a:bodyPr>
          <a:lstStyle/>
          <a:p>
            <a:pPr algn="just">
              <a:spcAft>
                <a:spcPts val="600"/>
              </a:spcAft>
            </a:pPr>
            <a:r>
              <a:rPr lang="en-US" sz="1600" b="1" dirty="0">
                <a:latin typeface="Tw Cen MT" panose="020B0602020104020603" pitchFamily="34" charset="0"/>
              </a:rPr>
              <a:t>We can see that adding more layers doesn’t translate to a higher accuracy. We need to adjust the learning rate too. </a:t>
            </a:r>
            <a:endParaRPr lang="en-PH" sz="1600" b="1" dirty="0">
              <a:latin typeface="Tw Cen MT" panose="020B0602020104020603" pitchFamily="34" charset="0"/>
            </a:endParaRPr>
          </a:p>
        </p:txBody>
      </p:sp>
      <p:pic>
        <p:nvPicPr>
          <p:cNvPr id="1034" name="Picture 10">
            <a:extLst>
              <a:ext uri="{FF2B5EF4-FFF2-40B4-BE49-F238E27FC236}">
                <a16:creationId xmlns:a16="http://schemas.microsoft.com/office/drawing/2014/main" id="{D3B91EB1-06B5-471A-A9FE-5C163A4741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7745" y="3819908"/>
            <a:ext cx="3142143" cy="226299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61250752-8F88-40A3-A1F4-B3DFCEE8E5E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365"/>
          <a:stretch/>
        </p:blipFill>
        <p:spPr bwMode="auto">
          <a:xfrm>
            <a:off x="9239657" y="3819908"/>
            <a:ext cx="2785051" cy="226299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EC123DA-690F-4A7B-B4B7-5DEE5985937F}"/>
              </a:ext>
            </a:extLst>
          </p:cNvPr>
          <p:cNvSpPr txBox="1"/>
          <p:nvPr/>
        </p:nvSpPr>
        <p:spPr>
          <a:xfrm>
            <a:off x="6257123" y="6021452"/>
            <a:ext cx="5589639" cy="276999"/>
          </a:xfrm>
          <a:prstGeom prst="rect">
            <a:avLst/>
          </a:prstGeom>
          <a:noFill/>
        </p:spPr>
        <p:txBody>
          <a:bodyPr wrap="square">
            <a:spAutoFit/>
          </a:bodyPr>
          <a:lstStyle/>
          <a:p>
            <a:pPr algn="ctr"/>
            <a:r>
              <a:rPr lang="en-US" sz="1200" dirty="0">
                <a:latin typeface="Tw Cen MT" panose="020B0602020104020603" pitchFamily="34" charset="0"/>
              </a:rPr>
              <a:t>Fig 5. The neural networks in Fig 4., but with a learning rate of 6.0 instead of 3.0</a:t>
            </a:r>
          </a:p>
        </p:txBody>
      </p:sp>
      <p:sp>
        <p:nvSpPr>
          <p:cNvPr id="21" name="TextBox 20">
            <a:extLst>
              <a:ext uri="{FF2B5EF4-FFF2-40B4-BE49-F238E27FC236}">
                <a16:creationId xmlns:a16="http://schemas.microsoft.com/office/drawing/2014/main" id="{6969A0B6-74CB-4762-B01E-CB398886BF7D}"/>
              </a:ext>
            </a:extLst>
          </p:cNvPr>
          <p:cNvSpPr txBox="1"/>
          <p:nvPr/>
        </p:nvSpPr>
        <p:spPr>
          <a:xfrm>
            <a:off x="6360621" y="6269164"/>
            <a:ext cx="5589639" cy="584775"/>
          </a:xfrm>
          <a:prstGeom prst="rect">
            <a:avLst/>
          </a:prstGeom>
          <a:noFill/>
        </p:spPr>
        <p:txBody>
          <a:bodyPr wrap="square">
            <a:spAutoFit/>
          </a:bodyPr>
          <a:lstStyle/>
          <a:p>
            <a:pPr algn="just">
              <a:spcAft>
                <a:spcPts val="600"/>
              </a:spcAft>
            </a:pPr>
            <a:r>
              <a:rPr lang="en-US" sz="1600" b="1" dirty="0">
                <a:latin typeface="Tw Cen MT" panose="020B0602020104020603" pitchFamily="34" charset="0"/>
              </a:rPr>
              <a:t>The initial configuration of just three layers was still the most accurate (95.28%). </a:t>
            </a:r>
            <a:r>
              <a:rPr lang="en-US" sz="1600" dirty="0">
                <a:latin typeface="Tw Cen MT" panose="020B0602020104020603" pitchFamily="34" charset="0"/>
              </a:rPr>
              <a:t>For reference, the world record is 99.81%</a:t>
            </a:r>
            <a:endParaRPr lang="en-PH" sz="1600" b="1" dirty="0">
              <a:latin typeface="Tw Cen MT" panose="020B0602020104020603" pitchFamily="34" charset="0"/>
            </a:endParaRPr>
          </a:p>
        </p:txBody>
      </p:sp>
    </p:spTree>
    <p:extLst>
      <p:ext uri="{BB962C8B-B14F-4D97-AF65-F5344CB8AC3E}">
        <p14:creationId xmlns:p14="http://schemas.microsoft.com/office/powerpoint/2010/main" val="1817251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D1D3-DCED-41F9-A947-8D74C6B3C416}"/>
              </a:ext>
            </a:extLst>
          </p:cNvPr>
          <p:cNvSpPr>
            <a:spLocks noGrp="1"/>
          </p:cNvSpPr>
          <p:nvPr>
            <p:ph type="title"/>
          </p:nvPr>
        </p:nvSpPr>
        <p:spPr>
          <a:xfrm>
            <a:off x="260604" y="507603"/>
            <a:ext cx="3024619" cy="737590"/>
          </a:xfrm>
        </p:spPr>
        <p:txBody>
          <a:bodyPr>
            <a:normAutofit/>
          </a:bodyPr>
          <a:lstStyle/>
          <a:p>
            <a:r>
              <a:rPr lang="en-PH" sz="3600" dirty="0">
                <a:latin typeface="Tw Cen MT" panose="020B0602020104020603" pitchFamily="34" charset="0"/>
              </a:rPr>
              <a:t>Key Takeaways</a:t>
            </a:r>
            <a:r>
              <a:rPr lang="en-PH" dirty="0">
                <a:latin typeface="Tw Cen MT" panose="020B0602020104020603" pitchFamily="34" charset="0"/>
              </a:rPr>
              <a:t> </a:t>
            </a:r>
          </a:p>
        </p:txBody>
      </p:sp>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a:off x="278620" y="5226023"/>
            <a:ext cx="11671640" cy="1966557"/>
          </a:xfrm>
        </p:spPr>
        <p:txBody>
          <a:bodyPr>
            <a:normAutofit/>
          </a:bodyPr>
          <a:lstStyle/>
          <a:p>
            <a:pPr marL="0" indent="0">
              <a:buNone/>
            </a:pPr>
            <a:r>
              <a:rPr lang="en-PH" sz="1400" dirty="0">
                <a:latin typeface="Tw Cen MT" panose="020B0602020104020603" pitchFamily="34" charset="0"/>
              </a:rPr>
              <a:t>[1] Soriano, M. (2023). </a:t>
            </a:r>
            <a:r>
              <a:rPr lang="en-US" sz="1400" dirty="0">
                <a:latin typeface="Tw Cen MT" panose="020B0602020104020603" pitchFamily="34" charset="0"/>
              </a:rPr>
              <a:t>ML5 – Neural networks. App Physics 157. National Institute of Physics, UP- Diliman. </a:t>
            </a:r>
          </a:p>
          <a:p>
            <a:pPr marL="0" indent="0">
              <a:buNone/>
            </a:pPr>
            <a:r>
              <a:rPr lang="en-US" sz="1400" dirty="0">
                <a:latin typeface="Tw Cen MT" panose="020B0602020104020603" pitchFamily="34" charset="0"/>
              </a:rPr>
              <a:t>[2]</a:t>
            </a:r>
            <a:r>
              <a:rPr lang="en-PH" sz="1400" dirty="0">
                <a:latin typeface="Tw Cen MT" panose="020B0602020104020603" pitchFamily="34" charset="0"/>
              </a:rPr>
              <a:t> </a:t>
            </a:r>
            <a:r>
              <a:rPr lang="en-US" sz="1400" dirty="0">
                <a:latin typeface="Tw Cen MT" panose="020B0602020104020603" pitchFamily="34" charset="0"/>
              </a:rPr>
              <a:t>Deng, L. (2012). The </a:t>
            </a:r>
            <a:r>
              <a:rPr lang="en-US" sz="1400" dirty="0" err="1">
                <a:latin typeface="Tw Cen MT" panose="020B0602020104020603" pitchFamily="34" charset="0"/>
              </a:rPr>
              <a:t>mnist</a:t>
            </a:r>
            <a:r>
              <a:rPr lang="en-US" sz="1400" dirty="0">
                <a:latin typeface="Tw Cen MT" panose="020B0602020104020603" pitchFamily="34" charset="0"/>
              </a:rPr>
              <a:t> database of handwritten digit images for machine learning research. IEEE Signal Processing Magazine, 29(6), 141–142.[3] McCulloch, Warren S., and Walter Pitts. "A logical calculus of the ideas immanent in nervous activity." The bulletin of mathematical biophysics 5, no. 4 (1943): 115-133</a:t>
            </a:r>
          </a:p>
          <a:p>
            <a:pPr marL="0" indent="0">
              <a:buNone/>
            </a:pPr>
            <a:r>
              <a:rPr lang="en-US" sz="1400" dirty="0">
                <a:latin typeface="Tw Cen MT" panose="020B0602020104020603" pitchFamily="34" charset="0"/>
              </a:rPr>
              <a:t>[3] Nielsen, M. (2015). Neural networks and deep learning. Determination Press. </a:t>
            </a:r>
          </a:p>
          <a:p>
            <a:pPr marL="0" indent="0">
              <a:buNone/>
            </a:pPr>
            <a:r>
              <a:rPr lang="en-US" sz="1400" dirty="0">
                <a:latin typeface="Tw Cen MT" panose="020B0602020104020603" pitchFamily="34" charset="0"/>
              </a:rPr>
              <a:t>[4] 3Blue1Brown. (2018). Neural networks – deep learning chapters 1 to 4. Uploaded in YouTube.com </a:t>
            </a:r>
          </a:p>
          <a:p>
            <a:pPr marL="0" indent="0">
              <a:buNone/>
            </a:pPr>
            <a:endParaRPr lang="en-US" sz="1600"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6 </a:t>
            </a:r>
            <a:r>
              <a:rPr lang="en-PH" dirty="0"/>
              <a:t>of 6 </a:t>
            </a:r>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3A1268FA-2793-4E5E-9F51-6E6A33F062ED}"/>
              </a:ext>
            </a:extLst>
          </p:cNvPr>
          <p:cNvSpPr txBox="1">
            <a:spLocks/>
          </p:cNvSpPr>
          <p:nvPr/>
        </p:nvSpPr>
        <p:spPr>
          <a:xfrm>
            <a:off x="278620" y="4739457"/>
            <a:ext cx="1970260" cy="58109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2800" dirty="0">
                <a:latin typeface="Tw Cen MT" panose="020B0602020104020603" pitchFamily="34" charset="0"/>
              </a:rPr>
              <a:t>References </a:t>
            </a:r>
            <a:r>
              <a:rPr lang="en-PH" sz="3600" dirty="0">
                <a:latin typeface="Tw Cen MT" panose="020B0602020104020603" pitchFamily="34" charset="0"/>
              </a:rPr>
              <a:t> </a:t>
            </a:r>
          </a:p>
        </p:txBody>
      </p:sp>
      <p:sp>
        <p:nvSpPr>
          <p:cNvPr id="8" name="Content Placeholder 2">
            <a:extLst>
              <a:ext uri="{FF2B5EF4-FFF2-40B4-BE49-F238E27FC236}">
                <a16:creationId xmlns:a16="http://schemas.microsoft.com/office/drawing/2014/main" id="{896540D9-306C-40D0-A29B-AA7B7B86AB9C}"/>
              </a:ext>
            </a:extLst>
          </p:cNvPr>
          <p:cNvSpPr txBox="1">
            <a:spLocks/>
          </p:cNvSpPr>
          <p:nvPr/>
        </p:nvSpPr>
        <p:spPr>
          <a:xfrm>
            <a:off x="353290" y="1157232"/>
            <a:ext cx="11347188" cy="10158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PH" sz="1600" dirty="0">
                <a:latin typeface="Tw Cen MT" panose="020B0602020104020603" pitchFamily="34" charset="0"/>
              </a:rPr>
              <a:t>One can create a multi-level layer of </a:t>
            </a:r>
            <a:r>
              <a:rPr lang="en-PH" sz="1600" dirty="0" err="1">
                <a:latin typeface="Tw Cen MT" panose="020B0602020104020603" pitchFamily="34" charset="0"/>
              </a:rPr>
              <a:t>perceptrons</a:t>
            </a:r>
            <a:r>
              <a:rPr lang="en-PH" sz="1600" dirty="0">
                <a:latin typeface="Tw Cen MT" panose="020B0602020104020603" pitchFamily="34" charset="0"/>
              </a:rPr>
              <a:t> in order to simulate decision making, in the form of a neural network. </a:t>
            </a:r>
          </a:p>
          <a:p>
            <a:pPr algn="just"/>
            <a:r>
              <a:rPr lang="en-PH" sz="1600" dirty="0">
                <a:latin typeface="Tw Cen MT" panose="020B0602020104020603" pitchFamily="34" charset="0"/>
              </a:rPr>
              <a:t>The accuracy of a neural network depends heavily on the number of its layers, the density of its neurons, and parameters such as its learning rate and training batch size. </a:t>
            </a:r>
          </a:p>
        </p:txBody>
      </p:sp>
      <p:sp>
        <p:nvSpPr>
          <p:cNvPr id="10" name="Title 1">
            <a:extLst>
              <a:ext uri="{FF2B5EF4-FFF2-40B4-BE49-F238E27FC236}">
                <a16:creationId xmlns:a16="http://schemas.microsoft.com/office/drawing/2014/main" id="{03708C6C-F341-46C2-B917-893D7C54C3CA}"/>
              </a:ext>
            </a:extLst>
          </p:cNvPr>
          <p:cNvSpPr txBox="1">
            <a:spLocks/>
          </p:cNvSpPr>
          <p:nvPr/>
        </p:nvSpPr>
        <p:spPr>
          <a:xfrm>
            <a:off x="260603" y="1893617"/>
            <a:ext cx="3024619" cy="7375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3600" dirty="0">
                <a:latin typeface="Tw Cen MT" panose="020B0602020104020603" pitchFamily="34" charset="0"/>
              </a:rPr>
              <a:t>Reflection</a:t>
            </a:r>
            <a:endParaRPr lang="en-PH" dirty="0">
              <a:latin typeface="Tw Cen MT" panose="020B0602020104020603" pitchFamily="34" charset="0"/>
            </a:endParaRPr>
          </a:p>
        </p:txBody>
      </p:sp>
      <p:sp>
        <p:nvSpPr>
          <p:cNvPr id="11" name="Content Placeholder 2">
            <a:extLst>
              <a:ext uri="{FF2B5EF4-FFF2-40B4-BE49-F238E27FC236}">
                <a16:creationId xmlns:a16="http://schemas.microsoft.com/office/drawing/2014/main" id="{5A33D309-2E80-4384-8BF1-EFBD662F1A81}"/>
              </a:ext>
            </a:extLst>
          </p:cNvPr>
          <p:cNvSpPr txBox="1">
            <a:spLocks/>
          </p:cNvSpPr>
          <p:nvPr/>
        </p:nvSpPr>
        <p:spPr>
          <a:xfrm>
            <a:off x="2649681" y="2587063"/>
            <a:ext cx="9050797" cy="12220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PH" sz="1600" b="1" dirty="0">
              <a:latin typeface="Tw Cen MT" panose="020B0602020104020603" pitchFamily="34" charset="0"/>
            </a:endParaRPr>
          </a:p>
        </p:txBody>
      </p:sp>
      <p:sp>
        <p:nvSpPr>
          <p:cNvPr id="12" name="TextBox 11">
            <a:extLst>
              <a:ext uri="{FF2B5EF4-FFF2-40B4-BE49-F238E27FC236}">
                <a16:creationId xmlns:a16="http://schemas.microsoft.com/office/drawing/2014/main" id="{24140131-2295-442E-8C7E-0477C154095B}"/>
              </a:ext>
            </a:extLst>
          </p:cNvPr>
          <p:cNvSpPr txBox="1"/>
          <p:nvPr/>
        </p:nvSpPr>
        <p:spPr>
          <a:xfrm>
            <a:off x="278620" y="2400917"/>
            <a:ext cx="11347188" cy="2462213"/>
          </a:xfrm>
          <a:prstGeom prst="rect">
            <a:avLst/>
          </a:prstGeom>
          <a:noFill/>
        </p:spPr>
        <p:txBody>
          <a:bodyPr wrap="square">
            <a:spAutoFit/>
          </a:bodyPr>
          <a:lstStyle/>
          <a:p>
            <a:pPr marL="0" indent="0" algn="just">
              <a:spcAft>
                <a:spcPts val="600"/>
              </a:spcAft>
              <a:buFont typeface="Arial" panose="020B0604020202020204" pitchFamily="34" charset="0"/>
              <a:buNone/>
            </a:pPr>
            <a:r>
              <a:rPr lang="en-PH" sz="1600" dirty="0">
                <a:latin typeface="Tw Cen MT" panose="020B0602020104020603" pitchFamily="34" charset="0"/>
              </a:rPr>
              <a:t>This activity is a project I’ll be proud to have done even long after I graduate. Even though the neural network I made was admittedly out of date, building it from scratch was not an easy task. Moreover, understanding multilayer </a:t>
            </a:r>
            <a:r>
              <a:rPr lang="en-PH" sz="1600" dirty="0" err="1">
                <a:latin typeface="Tw Cen MT" panose="020B0602020104020603" pitchFamily="34" charset="0"/>
              </a:rPr>
              <a:t>perceptrons</a:t>
            </a:r>
            <a:r>
              <a:rPr lang="en-PH" sz="1600" dirty="0">
                <a:latin typeface="Tw Cen MT" panose="020B0602020104020603" pitchFamily="34" charset="0"/>
              </a:rPr>
              <a:t> is a prerequisite to more sophisticated machine learning methods so this was a very insightful activity. </a:t>
            </a:r>
          </a:p>
          <a:p>
            <a:pPr marL="0" indent="0" algn="just">
              <a:spcAft>
                <a:spcPts val="600"/>
              </a:spcAft>
              <a:buFont typeface="Arial" panose="020B0604020202020204" pitchFamily="34" charset="0"/>
              <a:buNone/>
            </a:pPr>
            <a:r>
              <a:rPr lang="en-PH" sz="1600" dirty="0">
                <a:latin typeface="Tw Cen MT" panose="020B0602020104020603" pitchFamily="34" charset="0"/>
              </a:rPr>
              <a:t>The module made by Ma’am Jing was very confusing for me so I didn’t read it on my first pass on the topic. Instead, I watched reference [4] and then read the first two chapters of reference [3] in order to understand what was going on. These two made the index-chasing quite intuitive so I was then now able to read the module. Nevertheless, I still used the MNIST database as it is more standardized and the dataset is already prepared, why not use it?</a:t>
            </a:r>
          </a:p>
          <a:p>
            <a:pPr marL="0" indent="0" algn="just">
              <a:buFont typeface="Arial" panose="020B0604020202020204" pitchFamily="34" charset="0"/>
              <a:buNone/>
            </a:pPr>
            <a:r>
              <a:rPr lang="en-PH" sz="1600" b="1" dirty="0">
                <a:latin typeface="Tw Cen MT" panose="020B0602020104020603" pitchFamily="34" charset="0"/>
              </a:rPr>
              <a:t>I was able to make a neural network much more complex than what was required as I considered 784 inputs, and I was able to implement a customizable code. I was able to produce accurate results higher than 95% so I think I deserve a 100/100…</a:t>
            </a:r>
          </a:p>
        </p:txBody>
      </p:sp>
    </p:spTree>
    <p:extLst>
      <p:ext uri="{BB962C8B-B14F-4D97-AF65-F5344CB8AC3E}">
        <p14:creationId xmlns:p14="http://schemas.microsoft.com/office/powerpoint/2010/main" val="2394574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3861</TotalTime>
  <Words>1254</Words>
  <Application>Microsoft Office PowerPoint</Application>
  <PresentationFormat>Widescreen</PresentationFormat>
  <Paragraphs>56</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Google Sans</vt:lpstr>
      <vt:lpstr>Tw Cen MT</vt:lpstr>
      <vt:lpstr>Wingdings</vt:lpstr>
      <vt:lpstr>Office Theme</vt:lpstr>
      <vt:lpstr> Machine Learning: Neural Networks using a Multilayer Perceptron</vt:lpstr>
      <vt:lpstr>Objectives </vt:lpstr>
      <vt:lpstr> </vt:lpstr>
      <vt:lpstr> </vt:lpstr>
      <vt:lpstr> </vt:lpstr>
      <vt:lpstr>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Fourier Transform Model of Image Formation (I of II)</dc:title>
  <dc:creator>Edneil</dc:creator>
  <cp:lastModifiedBy>Edneil</cp:lastModifiedBy>
  <cp:revision>193</cp:revision>
  <dcterms:created xsi:type="dcterms:W3CDTF">2023-03-24T05:11:34Z</dcterms:created>
  <dcterms:modified xsi:type="dcterms:W3CDTF">2023-06-30T14:46:28Z</dcterms:modified>
</cp:coreProperties>
</file>