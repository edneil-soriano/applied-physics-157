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56" r:id="rId2"/>
    <p:sldId id="258" r:id="rId3"/>
    <p:sldId id="263" r:id="rId4"/>
    <p:sldId id="281"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9" autoAdjust="0"/>
    <p:restoredTop sz="94660"/>
  </p:normalViewPr>
  <p:slideViewPr>
    <p:cSldViewPr snapToGrid="0">
      <p:cViewPr varScale="1">
        <p:scale>
          <a:sx n="78" d="100"/>
          <a:sy n="78" d="100"/>
        </p:scale>
        <p:origin x="158" y="15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DFCC7-BE5F-4E2F-A0B7-89DECF2292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8744C309-A916-4846-BF9D-4EDBAAA495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E4632129-96B2-4ED4-8A5A-5A99570B8941}"/>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5" name="Footer Placeholder 4">
            <a:extLst>
              <a:ext uri="{FF2B5EF4-FFF2-40B4-BE49-F238E27FC236}">
                <a16:creationId xmlns:a16="http://schemas.microsoft.com/office/drawing/2014/main" id="{D2EBE942-42DE-4CD9-9E46-4B0B6866B45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23CDCE3-CEEA-4493-AFEE-20E99B0C23FF}"/>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15631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C1B5-5E3B-4598-A025-33E5632AD4B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23943F4-7D93-4DF4-838D-13367FC85D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DC44767-7780-4C67-89B4-4FC910F7B027}"/>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5" name="Footer Placeholder 4">
            <a:extLst>
              <a:ext uri="{FF2B5EF4-FFF2-40B4-BE49-F238E27FC236}">
                <a16:creationId xmlns:a16="http://schemas.microsoft.com/office/drawing/2014/main" id="{BC5A2813-7991-43DB-BCBD-A3E23FBF256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1786C29-3B5C-4959-9A98-488A0F87F61C}"/>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00917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894E-6117-472B-886A-AC8C6ABE9D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31F91B21-484A-4C7C-9A75-733E8CADCE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E30143-48B9-42B7-8335-617D2EABE03F}"/>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5" name="Footer Placeholder 4">
            <a:extLst>
              <a:ext uri="{FF2B5EF4-FFF2-40B4-BE49-F238E27FC236}">
                <a16:creationId xmlns:a16="http://schemas.microsoft.com/office/drawing/2014/main" id="{5D3DFC52-7018-490A-B05F-C8A8F8B3396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294C306-547E-4AB1-AFFD-0CC5BA1D6CB4}"/>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672233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80F1F-6B34-41D7-80B1-7C4D5F6B3B9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BF89DC8-6118-44C1-A83B-12B0FB87C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D5C74E02-5B39-44B7-BF42-CA661ABA3D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0EC9E85-F74D-4F6D-8353-92B550C44CA7}"/>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6" name="Footer Placeholder 5">
            <a:extLst>
              <a:ext uri="{FF2B5EF4-FFF2-40B4-BE49-F238E27FC236}">
                <a16:creationId xmlns:a16="http://schemas.microsoft.com/office/drawing/2014/main" id="{FE5F0AA8-1437-444C-A2A5-3D4C17318454}"/>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2F9C306-629D-4883-B159-6675AFE9304B}"/>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404701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71A94-69F1-452A-8BF8-80C22128D19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D8836C0-0CCA-4F6D-A84F-E508695DF7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6B4B6B-00DE-4593-98EF-0A2C0571C0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47B95F0F-FF08-47C0-8062-C5BBA5D82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EC09CA-688E-464F-9D87-35D584FDAE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F0BB9FFA-6C7E-4F8E-8A6B-A748036A73C5}"/>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8" name="Footer Placeholder 7">
            <a:extLst>
              <a:ext uri="{FF2B5EF4-FFF2-40B4-BE49-F238E27FC236}">
                <a16:creationId xmlns:a16="http://schemas.microsoft.com/office/drawing/2014/main" id="{6C7BDDC4-AB18-4DE4-B9F2-6EA962B6FD23}"/>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6F4FFF1B-5263-45E8-8D35-DF01D0947656}"/>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194091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9336-79C2-4952-B3CC-990C074CEF2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C9746F42-0252-40AC-9333-3B14EFDEAA73}"/>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4" name="Footer Placeholder 3">
            <a:extLst>
              <a:ext uri="{FF2B5EF4-FFF2-40B4-BE49-F238E27FC236}">
                <a16:creationId xmlns:a16="http://schemas.microsoft.com/office/drawing/2014/main" id="{0A694981-C388-4F64-B1A9-4B44A3C1942D}"/>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C97EE654-8BEB-4E16-8FA7-27D932905C36}"/>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191906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9F423-6286-42DC-AE0C-1B646E88089D}"/>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3" name="Footer Placeholder 2">
            <a:extLst>
              <a:ext uri="{FF2B5EF4-FFF2-40B4-BE49-F238E27FC236}">
                <a16:creationId xmlns:a16="http://schemas.microsoft.com/office/drawing/2014/main" id="{5D88A1AC-3CF4-483C-BDFF-874F1285C317}"/>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CD26E431-3330-42D8-8DA0-36A33C446FEC}"/>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3909480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2BC77-32DC-4049-B57A-834DBACE09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EFBA4C1-3319-4636-A8FC-D88F831BF3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9ADA55DD-7568-42EB-865F-8A2143AC7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51D6F4-62BD-4C72-B587-6D5C04579A55}"/>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6" name="Footer Placeholder 5">
            <a:extLst>
              <a:ext uri="{FF2B5EF4-FFF2-40B4-BE49-F238E27FC236}">
                <a16:creationId xmlns:a16="http://schemas.microsoft.com/office/drawing/2014/main" id="{CDBF507C-D4A8-4DD0-B48A-416A8447757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BB7B2E0-9CFD-48B1-AAE8-5848E15BDFE0}"/>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969701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398A6-39B2-4329-B998-7A53DA5B9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68D04EC8-6E45-4C0B-8925-69D9399B99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A86DD187-F19F-478D-9B47-7629F14EA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A553B0-DDE6-4A7B-849A-8D0673C137C5}"/>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6" name="Footer Placeholder 5">
            <a:extLst>
              <a:ext uri="{FF2B5EF4-FFF2-40B4-BE49-F238E27FC236}">
                <a16:creationId xmlns:a16="http://schemas.microsoft.com/office/drawing/2014/main" id="{91FF5786-E11D-4B59-8DAB-85F4DF3FF41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ACB1A49-6373-41F7-8F4C-4E0308856031}"/>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78390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B83C-57AE-4751-96C6-16424610E51F}"/>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61B553E-1ACE-4A3B-BD5C-3A2C37E1B7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BD8F971-679C-468D-B185-7D637C31A1C3}"/>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5" name="Footer Placeholder 4">
            <a:extLst>
              <a:ext uri="{FF2B5EF4-FFF2-40B4-BE49-F238E27FC236}">
                <a16:creationId xmlns:a16="http://schemas.microsoft.com/office/drawing/2014/main" id="{0C855149-EA4B-48E9-B518-08311FF0672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7FD8DFE-7267-4024-9134-7AF0CE178744}"/>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110984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D49258-7DC3-4369-9526-067BE43E4C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F5D5D3EC-4037-41ED-AFD7-9302126008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E4FF1FE-3B3B-4F0A-A874-EE2B0C01A16D}"/>
              </a:ext>
            </a:extLst>
          </p:cNvPr>
          <p:cNvSpPr>
            <a:spLocks noGrp="1"/>
          </p:cNvSpPr>
          <p:nvPr>
            <p:ph type="dt" sz="half" idx="10"/>
          </p:nvPr>
        </p:nvSpPr>
        <p:spPr/>
        <p:txBody>
          <a:bodyPr/>
          <a:lstStyle/>
          <a:p>
            <a:fld id="{4E1341C1-FD81-48EA-B020-1DD5EF3E31FB}" type="datetimeFigureOut">
              <a:rPr lang="en-PH" smtClean="0"/>
              <a:t>16/06/2023</a:t>
            </a:fld>
            <a:endParaRPr lang="en-PH"/>
          </a:p>
        </p:txBody>
      </p:sp>
      <p:sp>
        <p:nvSpPr>
          <p:cNvPr id="5" name="Footer Placeholder 4">
            <a:extLst>
              <a:ext uri="{FF2B5EF4-FFF2-40B4-BE49-F238E27FC236}">
                <a16:creationId xmlns:a16="http://schemas.microsoft.com/office/drawing/2014/main" id="{09BF3365-C142-4C74-8862-3FF42B4BE6C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07E5A64-3DCD-4A24-9AE7-23CE8E2689DD}"/>
              </a:ext>
            </a:extLst>
          </p:cNvPr>
          <p:cNvSpPr>
            <a:spLocks noGrp="1"/>
          </p:cNvSpPr>
          <p:nvPr>
            <p:ph type="sldNum" sz="quarter" idx="12"/>
          </p:nvPr>
        </p:nvSpPr>
        <p:spPr/>
        <p:txBody>
          <a:bodyPr/>
          <a:lstStyle/>
          <a:p>
            <a:fld id="{7DC1F782-C553-4B23-9D38-A3AB8A18CB25}" type="slidenum">
              <a:rPr lang="en-PH" smtClean="0"/>
              <a:t>‹#›</a:t>
            </a:fld>
            <a:endParaRPr lang="en-PH"/>
          </a:p>
        </p:txBody>
      </p:sp>
    </p:spTree>
    <p:extLst>
      <p:ext uri="{BB962C8B-B14F-4D97-AF65-F5344CB8AC3E}">
        <p14:creationId xmlns:p14="http://schemas.microsoft.com/office/powerpoint/2010/main" val="271694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2CB27-B344-49D4-9EEA-16971D37B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0EE9FC1B-F001-4ECD-9F6A-9CF05991F3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38A6C71-2C0F-41D8-ADA1-450E4F5D9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1341C1-FD81-48EA-B020-1DD5EF3E31FB}" type="datetimeFigureOut">
              <a:rPr lang="en-PH" smtClean="0"/>
              <a:t>16/06/2023</a:t>
            </a:fld>
            <a:endParaRPr lang="en-PH"/>
          </a:p>
        </p:txBody>
      </p:sp>
      <p:sp>
        <p:nvSpPr>
          <p:cNvPr id="5" name="Footer Placeholder 4">
            <a:extLst>
              <a:ext uri="{FF2B5EF4-FFF2-40B4-BE49-F238E27FC236}">
                <a16:creationId xmlns:a16="http://schemas.microsoft.com/office/drawing/2014/main" id="{7A8E3990-3812-4940-B5CA-3800964D44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98097B16-282F-45E7-BB1C-80A9AFC2AA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C1F782-C553-4B23-9D38-A3AB8A18CB25}" type="slidenum">
              <a:rPr lang="en-PH" smtClean="0"/>
              <a:t>‹#›</a:t>
            </a:fld>
            <a:endParaRPr lang="en-PH"/>
          </a:p>
        </p:txBody>
      </p:sp>
    </p:spTree>
    <p:extLst>
      <p:ext uri="{BB962C8B-B14F-4D97-AF65-F5344CB8AC3E}">
        <p14:creationId xmlns:p14="http://schemas.microsoft.com/office/powerpoint/2010/main" val="4013798314"/>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C6B2F-1774-4756-BBB9-C09E9C0BB963}"/>
              </a:ext>
            </a:extLst>
          </p:cNvPr>
          <p:cNvSpPr>
            <a:spLocks noGrp="1"/>
          </p:cNvSpPr>
          <p:nvPr>
            <p:ph type="ctrTitle"/>
          </p:nvPr>
        </p:nvSpPr>
        <p:spPr>
          <a:xfrm>
            <a:off x="147145" y="-230187"/>
            <a:ext cx="11897709" cy="1383928"/>
          </a:xfrm>
        </p:spPr>
        <p:txBody>
          <a:bodyPr>
            <a:noAutofit/>
          </a:bodyPr>
          <a:lstStyle/>
          <a:p>
            <a:br>
              <a:rPr lang="en-PH" sz="2800" b="1" dirty="0">
                <a:latin typeface="Tw Cen MT" panose="020B0602020104020603" pitchFamily="34" charset="0"/>
              </a:rPr>
            </a:br>
            <a:r>
              <a:rPr lang="en-PH" sz="3200" b="1" dirty="0">
                <a:latin typeface="Tw Cen MT" panose="020B0602020104020603" pitchFamily="34" charset="0"/>
              </a:rPr>
              <a:t>Machine Learning (Supervised): Perceptron and Logistic Regression</a:t>
            </a:r>
            <a:endParaRPr lang="en-PH" sz="2800" b="1" dirty="0">
              <a:latin typeface="Tw Cen MT" panose="020B0602020104020603" pitchFamily="34" charset="0"/>
            </a:endParaRPr>
          </a:p>
        </p:txBody>
      </p:sp>
      <p:sp>
        <p:nvSpPr>
          <p:cNvPr id="3" name="Subtitle 2">
            <a:extLst>
              <a:ext uri="{FF2B5EF4-FFF2-40B4-BE49-F238E27FC236}">
                <a16:creationId xmlns:a16="http://schemas.microsoft.com/office/drawing/2014/main" id="{BEC08A26-8F90-4FB3-9B52-739E658827FC}"/>
              </a:ext>
            </a:extLst>
          </p:cNvPr>
          <p:cNvSpPr>
            <a:spLocks noGrp="1"/>
          </p:cNvSpPr>
          <p:nvPr>
            <p:ph type="subTitle" idx="1"/>
          </p:nvPr>
        </p:nvSpPr>
        <p:spPr>
          <a:xfrm>
            <a:off x="5896303" y="6223210"/>
            <a:ext cx="6295697" cy="1269580"/>
          </a:xfrm>
        </p:spPr>
        <p:txBody>
          <a:bodyPr>
            <a:normAutofit/>
          </a:bodyPr>
          <a:lstStyle/>
          <a:p>
            <a:pPr algn="r"/>
            <a:r>
              <a:rPr lang="en-PH" sz="1600" dirty="0">
                <a:latin typeface="Tw Cen MT" panose="020B0602020104020603" pitchFamily="34" charset="0"/>
              </a:rPr>
              <a:t>Presented by </a:t>
            </a:r>
            <a:r>
              <a:rPr lang="en-PH" sz="1600" b="1" dirty="0">
                <a:latin typeface="Tw Cen MT" panose="020B0602020104020603" pitchFamily="34" charset="0"/>
              </a:rPr>
              <a:t>Soriano, Edneil E. Jr. </a:t>
            </a:r>
          </a:p>
          <a:p>
            <a:pPr algn="r"/>
            <a:r>
              <a:rPr lang="en-PH" sz="1600" dirty="0">
                <a:latin typeface="Tw Cen MT" panose="020B0602020104020603" pitchFamily="34" charset="0"/>
              </a:rPr>
              <a:t>S.N. </a:t>
            </a:r>
            <a:r>
              <a:rPr lang="en-PH" sz="1600" b="1" dirty="0">
                <a:latin typeface="Tw Cen MT" panose="020B0602020104020603" pitchFamily="34" charset="0"/>
              </a:rPr>
              <a:t>202002420 </a:t>
            </a:r>
          </a:p>
        </p:txBody>
      </p:sp>
      <p:cxnSp>
        <p:nvCxnSpPr>
          <p:cNvPr id="5" name="Straight Connector 4">
            <a:extLst>
              <a:ext uri="{FF2B5EF4-FFF2-40B4-BE49-F238E27FC236}">
                <a16:creationId xmlns:a16="http://schemas.microsoft.com/office/drawing/2014/main" id="{BD2C88DF-D94F-422C-8AA1-64E77A418DFA}"/>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0D5201B6-FAA6-48E5-83E6-0B3F73A5D4B3}"/>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1 </a:t>
            </a:r>
            <a:r>
              <a:rPr lang="en-PH" dirty="0"/>
              <a:t>of 5 </a:t>
            </a:r>
            <a:endParaRPr lang="en-PH" b="1" dirty="0"/>
          </a:p>
        </p:txBody>
      </p:sp>
      <p:pic>
        <p:nvPicPr>
          <p:cNvPr id="6" name="Picture 5">
            <a:extLst>
              <a:ext uri="{FF2B5EF4-FFF2-40B4-BE49-F238E27FC236}">
                <a16:creationId xmlns:a16="http://schemas.microsoft.com/office/drawing/2014/main" id="{565DB50F-4011-4F5A-8258-CD80D80C6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566" y="1317349"/>
            <a:ext cx="3100585" cy="2191817"/>
          </a:xfrm>
          <a:prstGeom prst="rect">
            <a:avLst/>
          </a:prstGeom>
        </p:spPr>
      </p:pic>
      <p:pic>
        <p:nvPicPr>
          <p:cNvPr id="18" name="Picture 17">
            <a:extLst>
              <a:ext uri="{FF2B5EF4-FFF2-40B4-BE49-F238E27FC236}">
                <a16:creationId xmlns:a16="http://schemas.microsoft.com/office/drawing/2014/main" id="{D6DA9C1A-3CE9-4E14-954B-69913D25B9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7478" y="3740225"/>
            <a:ext cx="5395208" cy="2697604"/>
          </a:xfrm>
          <a:prstGeom prst="rect">
            <a:avLst/>
          </a:prstGeom>
        </p:spPr>
      </p:pic>
      <p:pic>
        <p:nvPicPr>
          <p:cNvPr id="20" name="Picture 19">
            <a:extLst>
              <a:ext uri="{FF2B5EF4-FFF2-40B4-BE49-F238E27FC236}">
                <a16:creationId xmlns:a16="http://schemas.microsoft.com/office/drawing/2014/main" id="{5B0DAA24-F69C-4D7B-B504-C25C03D0ED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4801" y="3874398"/>
            <a:ext cx="3992677" cy="2817168"/>
          </a:xfrm>
          <a:prstGeom prst="rect">
            <a:avLst/>
          </a:prstGeom>
        </p:spPr>
      </p:pic>
      <p:pic>
        <p:nvPicPr>
          <p:cNvPr id="24" name="Picture 2">
            <a:extLst>
              <a:ext uri="{FF2B5EF4-FFF2-40B4-BE49-F238E27FC236}">
                <a16:creationId xmlns:a16="http://schemas.microsoft.com/office/drawing/2014/main" id="{8F1E67F9-921F-44F9-8E83-E405CCD1BC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9314" y="1153741"/>
            <a:ext cx="3855894" cy="2720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0707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D1D3-DCED-41F9-A947-8D74C6B3C416}"/>
              </a:ext>
            </a:extLst>
          </p:cNvPr>
          <p:cNvSpPr>
            <a:spLocks noGrp="1"/>
          </p:cNvSpPr>
          <p:nvPr>
            <p:ph type="title"/>
          </p:nvPr>
        </p:nvSpPr>
        <p:spPr>
          <a:xfrm>
            <a:off x="241739" y="365125"/>
            <a:ext cx="11112061" cy="1325563"/>
          </a:xfrm>
        </p:spPr>
        <p:txBody>
          <a:bodyPr/>
          <a:lstStyle/>
          <a:p>
            <a:r>
              <a:rPr lang="en-PH" dirty="0">
                <a:latin typeface="Tw Cen MT" panose="020B0602020104020603" pitchFamily="34" charset="0"/>
              </a:rPr>
              <a:t>Objectives </a:t>
            </a:r>
          </a:p>
        </p:txBody>
      </p:sp>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a:off x="534713" y="1730017"/>
            <a:ext cx="11027979" cy="4317639"/>
          </a:xfrm>
        </p:spPr>
        <p:txBody>
          <a:bodyPr>
            <a:normAutofit lnSpcReduction="10000"/>
          </a:bodyPr>
          <a:lstStyle/>
          <a:p>
            <a:pPr algn="just">
              <a:buFont typeface="Wingdings" panose="05000000000000000000" pitchFamily="2" charset="2"/>
              <a:buChar char="§"/>
            </a:pPr>
            <a:r>
              <a:rPr lang="en-PH" sz="3200" dirty="0">
                <a:latin typeface="Tw Cen MT" panose="020B0602020104020603" pitchFamily="34" charset="0"/>
              </a:rPr>
              <a:t>To extract the appropriate features in two classes of objects to train a classifier sufficiently. </a:t>
            </a:r>
          </a:p>
          <a:p>
            <a:pPr algn="just">
              <a:buFont typeface="Wingdings" panose="05000000000000000000" pitchFamily="2" charset="2"/>
              <a:buChar char="§"/>
            </a:pPr>
            <a:endParaRPr lang="en-PH" sz="3200" dirty="0">
              <a:latin typeface="Tw Cen MT" panose="020B0602020104020603" pitchFamily="34" charset="0"/>
            </a:endParaRPr>
          </a:p>
          <a:p>
            <a:pPr algn="just">
              <a:buFont typeface="Wingdings" panose="05000000000000000000" pitchFamily="2" charset="2"/>
              <a:buChar char="§"/>
            </a:pPr>
            <a:r>
              <a:rPr lang="en-PH" sz="3200" dirty="0">
                <a:latin typeface="Tw Cen MT" panose="020B0602020104020603" pitchFamily="34" charset="0"/>
              </a:rPr>
              <a:t>To train a perceptron in classifying two linearly separable classes in feature space using the McCulloch-Pitts Neuron (MCP) as a framework. </a:t>
            </a:r>
          </a:p>
          <a:p>
            <a:pPr algn="just">
              <a:buFont typeface="Wingdings" panose="05000000000000000000" pitchFamily="2" charset="2"/>
              <a:buChar char="§"/>
            </a:pPr>
            <a:endParaRPr lang="en-PH" sz="3200" dirty="0">
              <a:latin typeface="Tw Cen MT" panose="020B0602020104020603" pitchFamily="34" charset="0"/>
            </a:endParaRPr>
          </a:p>
          <a:p>
            <a:pPr algn="just">
              <a:buFont typeface="Wingdings" panose="05000000000000000000" pitchFamily="2" charset="2"/>
              <a:buChar char="§"/>
            </a:pPr>
            <a:r>
              <a:rPr lang="en-PH" sz="3200" dirty="0">
                <a:latin typeface="Tw Cen MT" panose="020B0602020104020603" pitchFamily="34" charset="0"/>
              </a:rPr>
              <a:t>To apply linear regression in making a probabilistic model as opposed to the earlier “hard” binary classifier.  </a:t>
            </a: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lgn="just">
              <a:buFont typeface="Wingdings" panose="05000000000000000000" pitchFamily="2" charset="2"/>
              <a:buChar char="§"/>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2 </a:t>
            </a:r>
            <a:r>
              <a:rPr lang="en-PH" dirty="0"/>
              <a:t>of 5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7106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3 </a:t>
            </a:r>
            <a:r>
              <a:rPr lang="en-PH" dirty="0"/>
              <a:t>of 5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5" y="586055"/>
            <a:ext cx="10655325" cy="646331"/>
          </a:xfrm>
          <a:prstGeom prst="rect">
            <a:avLst/>
          </a:prstGeom>
          <a:noFill/>
        </p:spPr>
        <p:txBody>
          <a:bodyPr wrap="square">
            <a:spAutoFit/>
          </a:bodyPr>
          <a:lstStyle/>
          <a:p>
            <a:r>
              <a:rPr lang="en-PH" sz="3600" dirty="0">
                <a:latin typeface="Tw Cen MT" panose="020B0602020104020603" pitchFamily="34" charset="0"/>
              </a:rPr>
              <a:t>Perceptron</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4" y="1206263"/>
            <a:ext cx="5731142" cy="2031325"/>
          </a:xfrm>
          <a:prstGeom prst="rect">
            <a:avLst/>
          </a:prstGeom>
          <a:noFill/>
        </p:spPr>
        <p:txBody>
          <a:bodyPr wrap="square">
            <a:spAutoFit/>
          </a:bodyPr>
          <a:lstStyle/>
          <a:p>
            <a:pPr algn="just"/>
            <a:r>
              <a:rPr lang="en-PH" dirty="0">
                <a:latin typeface="Tw Cen MT" panose="020B0602020104020603" pitchFamily="34" charset="0"/>
              </a:rPr>
              <a:t>In this exercise, we simulate an artificial neuron but we let it evolve through thousands of iterations, making it “learn” the ideal weights of each of its inputs. This artificial neuron could then classify between two linearly separable classes by constructing a </a:t>
            </a:r>
            <a:r>
              <a:rPr lang="en-PH" b="1" dirty="0">
                <a:latin typeface="Tw Cen MT" panose="020B0602020104020603" pitchFamily="34" charset="0"/>
              </a:rPr>
              <a:t>decision line </a:t>
            </a:r>
            <a:r>
              <a:rPr lang="en-PH" dirty="0">
                <a:latin typeface="Tw Cen MT" panose="020B0602020104020603" pitchFamily="34" charset="0"/>
              </a:rPr>
              <a:t>as shown in Fig 1. </a:t>
            </a:r>
          </a:p>
          <a:p>
            <a:pPr algn="just"/>
            <a:endParaRPr lang="en-PH" dirty="0">
              <a:latin typeface="Tw Cen MT" panose="020B0602020104020603" pitchFamily="34" charset="0"/>
            </a:endParaRPr>
          </a:p>
          <a:p>
            <a:pPr algn="just"/>
            <a:endParaRPr lang="en-PH" dirty="0">
              <a:latin typeface="Tw Cen MT" panose="020B0602020104020603" pitchFamily="34" charset="0"/>
            </a:endParaRPr>
          </a:p>
        </p:txBody>
      </p:sp>
      <p:pic>
        <p:nvPicPr>
          <p:cNvPr id="12" name="Picture 11">
            <a:extLst>
              <a:ext uri="{FF2B5EF4-FFF2-40B4-BE49-F238E27FC236}">
                <a16:creationId xmlns:a16="http://schemas.microsoft.com/office/drawing/2014/main" id="{E17E6AB2-ACFE-4C6A-BFD1-0796F5528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01" y="2702793"/>
            <a:ext cx="3749028" cy="2645253"/>
          </a:xfrm>
          <a:prstGeom prst="rect">
            <a:avLst/>
          </a:prstGeom>
        </p:spPr>
      </p:pic>
      <p:sp>
        <p:nvSpPr>
          <p:cNvPr id="13" name="TextBox 12">
            <a:extLst>
              <a:ext uri="{FF2B5EF4-FFF2-40B4-BE49-F238E27FC236}">
                <a16:creationId xmlns:a16="http://schemas.microsoft.com/office/drawing/2014/main" id="{1CB2F6CF-FD57-4587-BA7E-5E4B573A9924}"/>
              </a:ext>
            </a:extLst>
          </p:cNvPr>
          <p:cNvSpPr txBox="1"/>
          <p:nvPr/>
        </p:nvSpPr>
        <p:spPr>
          <a:xfrm>
            <a:off x="210761" y="5242791"/>
            <a:ext cx="5885239" cy="584775"/>
          </a:xfrm>
          <a:prstGeom prst="rect">
            <a:avLst/>
          </a:prstGeom>
          <a:noFill/>
        </p:spPr>
        <p:txBody>
          <a:bodyPr wrap="square">
            <a:spAutoFit/>
          </a:bodyPr>
          <a:lstStyle/>
          <a:p>
            <a:pPr algn="ctr"/>
            <a:r>
              <a:rPr lang="en-US" sz="1600" dirty="0">
                <a:latin typeface="Tw Cen MT" panose="020B0602020104020603" pitchFamily="34" charset="0"/>
              </a:rPr>
              <a:t>Fig 1.  Two classes (apple and banana) defined by two features (mean grayscale and eccentricity) separated by a decision line. </a:t>
            </a:r>
            <a:endParaRPr lang="en-PH" sz="800" dirty="0">
              <a:latin typeface="Tw Cen MT" panose="020B0602020104020603" pitchFamily="34" charset="0"/>
            </a:endParaRPr>
          </a:p>
        </p:txBody>
      </p:sp>
      <p:sp>
        <p:nvSpPr>
          <p:cNvPr id="14" name="TextBox 13">
            <a:extLst>
              <a:ext uri="{FF2B5EF4-FFF2-40B4-BE49-F238E27FC236}">
                <a16:creationId xmlns:a16="http://schemas.microsoft.com/office/drawing/2014/main" id="{F4FD9AC5-F5A7-4A02-846F-CF42CD19D7CA}"/>
              </a:ext>
            </a:extLst>
          </p:cNvPr>
          <p:cNvSpPr txBox="1"/>
          <p:nvPr/>
        </p:nvSpPr>
        <p:spPr>
          <a:xfrm>
            <a:off x="147144" y="5827566"/>
            <a:ext cx="5731142" cy="1477328"/>
          </a:xfrm>
          <a:prstGeom prst="rect">
            <a:avLst/>
          </a:prstGeom>
          <a:noFill/>
        </p:spPr>
        <p:txBody>
          <a:bodyPr wrap="square">
            <a:spAutoFit/>
          </a:bodyPr>
          <a:lstStyle/>
          <a:p>
            <a:pPr algn="just"/>
            <a:r>
              <a:rPr lang="en-PH" dirty="0">
                <a:latin typeface="Tw Cen MT" panose="020B0602020104020603" pitchFamily="34" charset="0"/>
              </a:rPr>
              <a:t>We employ usual feature extraction techniques on 15 apple and banana images each to get the feature space shown above.  </a:t>
            </a:r>
          </a:p>
          <a:p>
            <a:pPr algn="just"/>
            <a:endParaRPr lang="en-PH" dirty="0">
              <a:latin typeface="Tw Cen MT" panose="020B0602020104020603" pitchFamily="34" charset="0"/>
            </a:endParaRPr>
          </a:p>
          <a:p>
            <a:pPr algn="just"/>
            <a:endParaRPr lang="en-PH" dirty="0">
              <a:latin typeface="Tw Cen MT" panose="020B0602020104020603" pitchFamily="34" charset="0"/>
            </a:endParaRPr>
          </a:p>
        </p:txBody>
      </p:sp>
      <p:sp>
        <p:nvSpPr>
          <p:cNvPr id="17" name="TextBox 16">
            <a:extLst>
              <a:ext uri="{FF2B5EF4-FFF2-40B4-BE49-F238E27FC236}">
                <a16:creationId xmlns:a16="http://schemas.microsoft.com/office/drawing/2014/main" id="{030FF339-DF4D-4637-8631-61FA4AC38D23}"/>
              </a:ext>
            </a:extLst>
          </p:cNvPr>
          <p:cNvSpPr txBox="1"/>
          <p:nvPr/>
        </p:nvSpPr>
        <p:spPr>
          <a:xfrm>
            <a:off x="5985335" y="678389"/>
            <a:ext cx="5764390" cy="2031325"/>
          </a:xfrm>
          <a:prstGeom prst="rect">
            <a:avLst/>
          </a:prstGeom>
          <a:noFill/>
        </p:spPr>
        <p:txBody>
          <a:bodyPr wrap="square">
            <a:spAutoFit/>
          </a:bodyPr>
          <a:lstStyle/>
          <a:p>
            <a:pPr algn="just"/>
            <a:r>
              <a:rPr lang="en-PH" b="1" dirty="0">
                <a:latin typeface="Tw Cen MT" panose="020B0602020104020603" pitchFamily="34" charset="0"/>
              </a:rPr>
              <a:t>The decision line is not unique </a:t>
            </a:r>
            <a:r>
              <a:rPr lang="en-PH" dirty="0">
                <a:latin typeface="Tw Cen MT" panose="020B0602020104020603" pitchFamily="34" charset="0"/>
              </a:rPr>
              <a:t>because initial weights are randomized for later adjustment; and while all these lines are valid - not all are useful. In our particular case, it took me 2 runs of 1000 epochs each in order for the perceptron to correctly classify all the test data shown in Fig 2. </a:t>
            </a:r>
          </a:p>
          <a:p>
            <a:pPr algn="just"/>
            <a:endParaRPr lang="en-PH" b="1" dirty="0">
              <a:latin typeface="Tw Cen MT" panose="020B0602020104020603" pitchFamily="34" charset="0"/>
            </a:endParaRPr>
          </a:p>
          <a:p>
            <a:pPr algn="just"/>
            <a:endParaRPr lang="en-PH" dirty="0">
              <a:latin typeface="Tw Cen MT" panose="020B0602020104020603" pitchFamily="34" charset="0"/>
            </a:endParaRPr>
          </a:p>
        </p:txBody>
      </p:sp>
      <p:pic>
        <p:nvPicPr>
          <p:cNvPr id="19" name="Picture 18">
            <a:extLst>
              <a:ext uri="{FF2B5EF4-FFF2-40B4-BE49-F238E27FC236}">
                <a16:creationId xmlns:a16="http://schemas.microsoft.com/office/drawing/2014/main" id="{73725EEF-916A-42FF-AE82-7C0B7F66A8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8703" y="2208718"/>
            <a:ext cx="5670902" cy="2835451"/>
          </a:xfrm>
          <a:prstGeom prst="rect">
            <a:avLst/>
          </a:prstGeom>
        </p:spPr>
      </p:pic>
      <p:sp>
        <p:nvSpPr>
          <p:cNvPr id="20" name="TextBox 19">
            <a:extLst>
              <a:ext uri="{FF2B5EF4-FFF2-40B4-BE49-F238E27FC236}">
                <a16:creationId xmlns:a16="http://schemas.microsoft.com/office/drawing/2014/main" id="{3C9818CE-04BD-4860-8D7A-61E7C250B8E5}"/>
              </a:ext>
            </a:extLst>
          </p:cNvPr>
          <p:cNvSpPr txBox="1"/>
          <p:nvPr/>
        </p:nvSpPr>
        <p:spPr>
          <a:xfrm>
            <a:off x="5985336" y="5036444"/>
            <a:ext cx="5885239" cy="338554"/>
          </a:xfrm>
          <a:prstGeom prst="rect">
            <a:avLst/>
          </a:prstGeom>
          <a:noFill/>
        </p:spPr>
        <p:txBody>
          <a:bodyPr wrap="square">
            <a:spAutoFit/>
          </a:bodyPr>
          <a:lstStyle/>
          <a:p>
            <a:pPr algn="ctr"/>
            <a:r>
              <a:rPr lang="en-US" sz="1600" dirty="0">
                <a:latin typeface="Tw Cen MT" panose="020B0602020104020603" pitchFamily="34" charset="0"/>
              </a:rPr>
              <a:t>Fig 2.  The perceptron algorithm can now classify apples and bananas </a:t>
            </a:r>
            <a:endParaRPr lang="en-PH" sz="800" dirty="0">
              <a:latin typeface="Tw Cen MT" panose="020B0602020104020603" pitchFamily="34" charset="0"/>
            </a:endParaRPr>
          </a:p>
        </p:txBody>
      </p:sp>
      <p:sp>
        <p:nvSpPr>
          <p:cNvPr id="22" name="TextBox 21">
            <a:extLst>
              <a:ext uri="{FF2B5EF4-FFF2-40B4-BE49-F238E27FC236}">
                <a16:creationId xmlns:a16="http://schemas.microsoft.com/office/drawing/2014/main" id="{67665383-0FAF-4AE3-946D-90B9AE270B9A}"/>
              </a:ext>
            </a:extLst>
          </p:cNvPr>
          <p:cNvSpPr txBox="1"/>
          <p:nvPr/>
        </p:nvSpPr>
        <p:spPr>
          <a:xfrm>
            <a:off x="5985335" y="5374998"/>
            <a:ext cx="5995903" cy="1754326"/>
          </a:xfrm>
          <a:prstGeom prst="rect">
            <a:avLst/>
          </a:prstGeom>
          <a:noFill/>
        </p:spPr>
        <p:txBody>
          <a:bodyPr wrap="square">
            <a:spAutoFit/>
          </a:bodyPr>
          <a:lstStyle/>
          <a:p>
            <a:pPr algn="just"/>
            <a:r>
              <a:rPr lang="en-PH" b="1" dirty="0">
                <a:latin typeface="Tw Cen MT" panose="020B0602020104020603" pitchFamily="34" charset="0"/>
              </a:rPr>
              <a:t>This particular decision line predicts with a score of 100% for this particular test data. </a:t>
            </a:r>
            <a:r>
              <a:rPr lang="en-PH" dirty="0">
                <a:latin typeface="Tw Cen MT" panose="020B0602020104020603" pitchFamily="34" charset="0"/>
              </a:rPr>
              <a:t>We can also see how the perceptron algorithm can create a binary classifier given a limited amount of training data. This perceptron WILL now work for any two features and any two classes of objects!</a:t>
            </a:r>
          </a:p>
          <a:p>
            <a:pPr algn="just"/>
            <a:endParaRPr lang="en-PH" dirty="0">
              <a:latin typeface="Tw Cen MT" panose="020B0602020104020603" pitchFamily="34" charset="0"/>
            </a:endParaRPr>
          </a:p>
        </p:txBody>
      </p:sp>
    </p:spTree>
    <p:extLst>
      <p:ext uri="{BB962C8B-B14F-4D97-AF65-F5344CB8AC3E}">
        <p14:creationId xmlns:p14="http://schemas.microsoft.com/office/powerpoint/2010/main" val="1299167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flipH="1">
            <a:off x="-1828800" y="1503382"/>
            <a:ext cx="1082566" cy="4716023"/>
          </a:xfrm>
        </p:spPr>
        <p:txBody>
          <a:bodyPr>
            <a:normAutofit/>
          </a:bodyPr>
          <a:lstStyle/>
          <a:p>
            <a:pPr marL="0" indent="0" algn="just">
              <a:buNone/>
            </a:pPr>
            <a:endParaRPr lang="en-PH" dirty="0">
              <a:latin typeface="Tw Cen MT" panose="020B0602020104020603" pitchFamily="34" charset="0"/>
            </a:endParaRPr>
          </a:p>
          <a:p>
            <a:pPr marL="0" indent="0" algn="just">
              <a:buNone/>
            </a:pPr>
            <a:endParaRPr lang="en-PH" dirty="0">
              <a:latin typeface="Tw Cen MT" panose="020B0602020104020603" pitchFamily="34" charset="0"/>
            </a:endParaRPr>
          </a:p>
          <a:p>
            <a:pPr>
              <a:buFont typeface="Wingdings" panose="05000000000000000000" pitchFamily="2" charset="2"/>
              <a:buChar char="§"/>
            </a:pPr>
            <a:endParaRPr lang="en-PH" dirty="0">
              <a:latin typeface="Tw Cen MT" panose="020B0602020104020603" pitchFamily="34" charset="0"/>
            </a:endParaRP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4 </a:t>
            </a:r>
            <a:r>
              <a:rPr lang="en-PH" dirty="0"/>
              <a:t>of 5 </a:t>
            </a:r>
            <a:endParaRPr lang="en-PH" b="1" dirty="0"/>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8" name="Title 7">
            <a:extLst>
              <a:ext uri="{FF2B5EF4-FFF2-40B4-BE49-F238E27FC236}">
                <a16:creationId xmlns:a16="http://schemas.microsoft.com/office/drawing/2014/main" id="{7A937F16-FDCD-414C-92E5-5032C4B50BE6}"/>
              </a:ext>
            </a:extLst>
          </p:cNvPr>
          <p:cNvSpPr>
            <a:spLocks noGrp="1"/>
          </p:cNvSpPr>
          <p:nvPr>
            <p:ph type="title"/>
          </p:nvPr>
        </p:nvSpPr>
        <p:spPr>
          <a:xfrm flipH="1">
            <a:off x="-1786759" y="638595"/>
            <a:ext cx="1531883" cy="1325563"/>
          </a:xfrm>
        </p:spPr>
        <p:txBody>
          <a:bodyPr/>
          <a:lstStyle/>
          <a:p>
            <a:r>
              <a:rPr lang="en-PH" dirty="0"/>
              <a:t> </a:t>
            </a:r>
          </a:p>
        </p:txBody>
      </p:sp>
      <p:sp>
        <p:nvSpPr>
          <p:cNvPr id="28" name="TextBox 27">
            <a:extLst>
              <a:ext uri="{FF2B5EF4-FFF2-40B4-BE49-F238E27FC236}">
                <a16:creationId xmlns:a16="http://schemas.microsoft.com/office/drawing/2014/main" id="{1DC9607B-7526-4413-83B2-08B922F88F9F}"/>
              </a:ext>
            </a:extLst>
          </p:cNvPr>
          <p:cNvSpPr txBox="1"/>
          <p:nvPr/>
        </p:nvSpPr>
        <p:spPr>
          <a:xfrm>
            <a:off x="147146" y="586055"/>
            <a:ext cx="6496250" cy="646331"/>
          </a:xfrm>
          <a:prstGeom prst="rect">
            <a:avLst/>
          </a:prstGeom>
          <a:noFill/>
        </p:spPr>
        <p:txBody>
          <a:bodyPr wrap="square">
            <a:spAutoFit/>
          </a:bodyPr>
          <a:lstStyle/>
          <a:p>
            <a:r>
              <a:rPr lang="en-PH" sz="3600" dirty="0">
                <a:latin typeface="Tw Cen MT" panose="020B0602020104020603" pitchFamily="34" charset="0"/>
              </a:rPr>
              <a:t>Logistic Regression</a:t>
            </a:r>
            <a:endParaRPr lang="en-PH" sz="3600" dirty="0"/>
          </a:p>
        </p:txBody>
      </p:sp>
      <p:sp>
        <p:nvSpPr>
          <p:cNvPr id="15" name="TextBox 14">
            <a:extLst>
              <a:ext uri="{FF2B5EF4-FFF2-40B4-BE49-F238E27FC236}">
                <a16:creationId xmlns:a16="http://schemas.microsoft.com/office/drawing/2014/main" id="{673669A0-D16A-43D5-A824-28214DF9DD01}"/>
              </a:ext>
            </a:extLst>
          </p:cNvPr>
          <p:cNvSpPr txBox="1"/>
          <p:nvPr/>
        </p:nvSpPr>
        <p:spPr>
          <a:xfrm>
            <a:off x="147141" y="1151114"/>
            <a:ext cx="5552619" cy="2862322"/>
          </a:xfrm>
          <a:prstGeom prst="rect">
            <a:avLst/>
          </a:prstGeom>
          <a:noFill/>
        </p:spPr>
        <p:txBody>
          <a:bodyPr wrap="square">
            <a:spAutoFit/>
          </a:bodyPr>
          <a:lstStyle/>
          <a:p>
            <a:pPr algn="just"/>
            <a:r>
              <a:rPr lang="en-PH" b="1" dirty="0">
                <a:latin typeface="Tw Cen MT" panose="020B0602020104020603" pitchFamily="34" charset="0"/>
              </a:rPr>
              <a:t>Suppose we now want to classify an object based on a spectrum </a:t>
            </a:r>
            <a:r>
              <a:rPr lang="en-PH" dirty="0">
                <a:latin typeface="Tw Cen MT" panose="020B0602020104020603" pitchFamily="34" charset="0"/>
              </a:rPr>
              <a:t>(such as ripeness)? All we do is replace the step function with a sigmoid, or another continuous probability distribution. In the title page, we show the training data in Normalize Chromaticity Coordinates (NCC) as our feature space. In logistic regression, the output is not a binary -1 or +1 but a continuous distribution from 0 to 1. After training with 19 mangoes for each class, we test 10 test mangoes for ripeness as shown in Fig 3. </a:t>
            </a:r>
          </a:p>
          <a:p>
            <a:pPr algn="just"/>
            <a:endParaRPr lang="en-PH" dirty="0">
              <a:latin typeface="Tw Cen MT" panose="020B0602020104020603" pitchFamily="34" charset="0"/>
            </a:endParaRPr>
          </a:p>
        </p:txBody>
      </p:sp>
      <p:sp>
        <p:nvSpPr>
          <p:cNvPr id="16" name="TextBox 15">
            <a:extLst>
              <a:ext uri="{FF2B5EF4-FFF2-40B4-BE49-F238E27FC236}">
                <a16:creationId xmlns:a16="http://schemas.microsoft.com/office/drawing/2014/main" id="{E4ECEDCF-D24D-47A8-805E-5491096D8121}"/>
              </a:ext>
            </a:extLst>
          </p:cNvPr>
          <p:cNvSpPr txBox="1"/>
          <p:nvPr/>
        </p:nvSpPr>
        <p:spPr>
          <a:xfrm>
            <a:off x="555886" y="6271945"/>
            <a:ext cx="4735128" cy="584775"/>
          </a:xfrm>
          <a:prstGeom prst="rect">
            <a:avLst/>
          </a:prstGeom>
          <a:noFill/>
        </p:spPr>
        <p:txBody>
          <a:bodyPr wrap="square">
            <a:spAutoFit/>
          </a:bodyPr>
          <a:lstStyle/>
          <a:p>
            <a:pPr algn="ctr"/>
            <a:r>
              <a:rPr lang="en-US" sz="1600" dirty="0">
                <a:latin typeface="Tw Cen MT" panose="020B0602020104020603" pitchFamily="34" charset="0"/>
              </a:rPr>
              <a:t>Fig 3. Test points overlayed with the sigmoid threshold function to show how probabilities are assigned. </a:t>
            </a:r>
            <a:endParaRPr lang="en-PH" sz="800" dirty="0">
              <a:latin typeface="Tw Cen MT" panose="020B0602020104020603" pitchFamily="34" charset="0"/>
            </a:endParaRPr>
          </a:p>
        </p:txBody>
      </p:sp>
      <p:sp>
        <p:nvSpPr>
          <p:cNvPr id="22" name="TextBox 21">
            <a:extLst>
              <a:ext uri="{FF2B5EF4-FFF2-40B4-BE49-F238E27FC236}">
                <a16:creationId xmlns:a16="http://schemas.microsoft.com/office/drawing/2014/main" id="{1C61C614-7EB9-463B-AF7B-B569FC4A160A}"/>
              </a:ext>
            </a:extLst>
          </p:cNvPr>
          <p:cNvSpPr txBox="1"/>
          <p:nvPr/>
        </p:nvSpPr>
        <p:spPr>
          <a:xfrm>
            <a:off x="5948710" y="3169171"/>
            <a:ext cx="5799893" cy="338554"/>
          </a:xfrm>
          <a:prstGeom prst="rect">
            <a:avLst/>
          </a:prstGeom>
          <a:noFill/>
        </p:spPr>
        <p:txBody>
          <a:bodyPr wrap="square">
            <a:spAutoFit/>
          </a:bodyPr>
          <a:lstStyle/>
          <a:p>
            <a:pPr algn="ctr"/>
            <a:r>
              <a:rPr lang="en-US" sz="1600" dirty="0">
                <a:latin typeface="Tw Cen MT" panose="020B0602020104020603" pitchFamily="34" charset="0"/>
              </a:rPr>
              <a:t>Fig 4. Test mangoes and their corresponding ripeness based on color</a:t>
            </a:r>
            <a:endParaRPr lang="en-PH" sz="800" dirty="0">
              <a:latin typeface="Tw Cen MT" panose="020B0602020104020603" pitchFamily="34" charset="0"/>
            </a:endParaRPr>
          </a:p>
        </p:txBody>
      </p:sp>
      <p:pic>
        <p:nvPicPr>
          <p:cNvPr id="3076" name="Picture 4">
            <a:extLst>
              <a:ext uri="{FF2B5EF4-FFF2-40B4-BE49-F238E27FC236}">
                <a16:creationId xmlns:a16="http://schemas.microsoft.com/office/drawing/2014/main" id="{ECB615F8-08D9-4E1C-91BA-4744A6E91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556" y="3780100"/>
            <a:ext cx="3801788" cy="249184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7E9A7730-0C89-4458-999B-A431406B1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759" y="669899"/>
            <a:ext cx="6297797" cy="2613623"/>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E7F81047-7A2F-42C8-B5A0-B589DE52A513}"/>
              </a:ext>
            </a:extLst>
          </p:cNvPr>
          <p:cNvSpPr txBox="1"/>
          <p:nvPr/>
        </p:nvSpPr>
        <p:spPr>
          <a:xfrm>
            <a:off x="5604816" y="3573030"/>
            <a:ext cx="6392740" cy="3139321"/>
          </a:xfrm>
          <a:prstGeom prst="rect">
            <a:avLst/>
          </a:prstGeom>
          <a:noFill/>
        </p:spPr>
        <p:txBody>
          <a:bodyPr wrap="square">
            <a:spAutoFit/>
          </a:bodyPr>
          <a:lstStyle/>
          <a:p>
            <a:pPr algn="just"/>
            <a:r>
              <a:rPr lang="en-PH" b="1" dirty="0">
                <a:latin typeface="Tw Cen MT" panose="020B0602020104020603" pitchFamily="34" charset="0"/>
              </a:rPr>
              <a:t>As expected green mangoes were classified to a “probability” of less than 0.5, with yellow mangoes classified to higher values. </a:t>
            </a:r>
            <a:r>
              <a:rPr lang="en-PH" dirty="0">
                <a:latin typeface="Tw Cen MT" panose="020B0602020104020603" pitchFamily="34" charset="0"/>
              </a:rPr>
              <a:t>For this particular model, I designed the training to only take into account 2 features to mimic the previous activity. However, it is actually very straightforward to take into account a number of other features – it’s just a matter of increasing the size of weight vectors in the code. Lastly, I wanted to touch on the learning rates used for both models’ weight change rules. </a:t>
            </a:r>
            <a:r>
              <a:rPr lang="en-PH" b="1" dirty="0">
                <a:latin typeface="Tw Cen MT" panose="020B0602020104020603" pitchFamily="34" charset="0"/>
              </a:rPr>
              <a:t>The learning rate I used for logistic regression was 2 orders of magnitude higher than what I used for the perceptron! </a:t>
            </a:r>
            <a:r>
              <a:rPr lang="en-PH" dirty="0">
                <a:latin typeface="Tw Cen MT" panose="020B0602020104020603" pitchFamily="34" charset="0"/>
              </a:rPr>
              <a:t>When training different models, this is important to not only for it to work but also to avoid overfitting. </a:t>
            </a:r>
            <a:endParaRPr lang="en-PH" b="1" dirty="0">
              <a:latin typeface="Tw Cen MT" panose="020B0602020104020603" pitchFamily="34" charset="0"/>
            </a:endParaRPr>
          </a:p>
        </p:txBody>
      </p:sp>
    </p:spTree>
    <p:extLst>
      <p:ext uri="{BB962C8B-B14F-4D97-AF65-F5344CB8AC3E}">
        <p14:creationId xmlns:p14="http://schemas.microsoft.com/office/powerpoint/2010/main" val="139943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D1D3-DCED-41F9-A947-8D74C6B3C416}"/>
              </a:ext>
            </a:extLst>
          </p:cNvPr>
          <p:cNvSpPr>
            <a:spLocks noGrp="1"/>
          </p:cNvSpPr>
          <p:nvPr>
            <p:ph type="title"/>
          </p:nvPr>
        </p:nvSpPr>
        <p:spPr>
          <a:xfrm>
            <a:off x="260604" y="507603"/>
            <a:ext cx="3024619" cy="737590"/>
          </a:xfrm>
        </p:spPr>
        <p:txBody>
          <a:bodyPr>
            <a:normAutofit/>
          </a:bodyPr>
          <a:lstStyle/>
          <a:p>
            <a:r>
              <a:rPr lang="en-PH" sz="3600" dirty="0">
                <a:latin typeface="Tw Cen MT" panose="020B0602020104020603" pitchFamily="34" charset="0"/>
              </a:rPr>
              <a:t>Key Takeaways</a:t>
            </a:r>
            <a:r>
              <a:rPr lang="en-PH" dirty="0">
                <a:latin typeface="Tw Cen MT" panose="020B0602020104020603" pitchFamily="34" charset="0"/>
              </a:rPr>
              <a:t> </a:t>
            </a:r>
          </a:p>
        </p:txBody>
      </p:sp>
      <p:sp>
        <p:nvSpPr>
          <p:cNvPr id="3" name="Content Placeholder 2">
            <a:extLst>
              <a:ext uri="{FF2B5EF4-FFF2-40B4-BE49-F238E27FC236}">
                <a16:creationId xmlns:a16="http://schemas.microsoft.com/office/drawing/2014/main" id="{C7828F56-B197-4897-A630-B7968F4D5E17}"/>
              </a:ext>
            </a:extLst>
          </p:cNvPr>
          <p:cNvSpPr>
            <a:spLocks noGrp="1"/>
          </p:cNvSpPr>
          <p:nvPr>
            <p:ph idx="1"/>
          </p:nvPr>
        </p:nvSpPr>
        <p:spPr>
          <a:xfrm>
            <a:off x="278620" y="5493771"/>
            <a:ext cx="11671640" cy="1293690"/>
          </a:xfrm>
        </p:spPr>
        <p:txBody>
          <a:bodyPr>
            <a:normAutofit/>
          </a:bodyPr>
          <a:lstStyle/>
          <a:p>
            <a:pPr marL="0" indent="0">
              <a:buNone/>
            </a:pPr>
            <a:r>
              <a:rPr lang="en-PH" sz="1600" dirty="0">
                <a:latin typeface="Tw Cen MT" panose="020B0602020104020603" pitchFamily="34" charset="0"/>
              </a:rPr>
              <a:t>[1] Soriano, M. (2023). </a:t>
            </a:r>
            <a:r>
              <a:rPr lang="en-US" sz="1600" dirty="0">
                <a:latin typeface="Tw Cen MT" panose="020B0602020104020603" pitchFamily="34" charset="0"/>
              </a:rPr>
              <a:t>ML2 - Perceptron. App Physics 157. National Institute of Physics, UP- Diliman. </a:t>
            </a:r>
          </a:p>
          <a:p>
            <a:pPr marL="0" indent="0">
              <a:buNone/>
            </a:pPr>
            <a:r>
              <a:rPr lang="en-US" sz="1600" dirty="0">
                <a:latin typeface="Tw Cen MT" panose="020B0602020104020603" pitchFamily="34" charset="0"/>
              </a:rPr>
              <a:t>[2]</a:t>
            </a:r>
            <a:r>
              <a:rPr lang="en-PH" sz="1600" dirty="0">
                <a:latin typeface="Tw Cen MT" panose="020B0602020104020603" pitchFamily="34" charset="0"/>
              </a:rPr>
              <a:t> Soriano, M. (2023). </a:t>
            </a:r>
            <a:r>
              <a:rPr lang="en-US" sz="1600" dirty="0">
                <a:latin typeface="Tw Cen MT" panose="020B0602020104020603" pitchFamily="34" charset="0"/>
              </a:rPr>
              <a:t>ML3 – Logistic Regression. App Physics 157. National Institute of Physics, UP- Diliman. </a:t>
            </a:r>
          </a:p>
          <a:p>
            <a:pPr marL="0" indent="0">
              <a:buNone/>
            </a:pPr>
            <a:r>
              <a:rPr lang="en-US" sz="1600" dirty="0">
                <a:latin typeface="Tw Cen MT" panose="020B0602020104020603" pitchFamily="34" charset="0"/>
              </a:rPr>
              <a:t>[3] McCulloch, Warren S., and Walter Pitts. "A logical calculus of the ideas immanent in nervous activity." The bulletin of mathematical biophysics 5, no. 4 (1943): 115-133</a:t>
            </a:r>
          </a:p>
        </p:txBody>
      </p:sp>
      <p:sp>
        <p:nvSpPr>
          <p:cNvPr id="4" name="TextBox 3">
            <a:extLst>
              <a:ext uri="{FF2B5EF4-FFF2-40B4-BE49-F238E27FC236}">
                <a16:creationId xmlns:a16="http://schemas.microsoft.com/office/drawing/2014/main" id="{9D0EC095-A916-4C16-83DE-66D2768B43E2}"/>
              </a:ext>
            </a:extLst>
          </p:cNvPr>
          <p:cNvSpPr txBox="1"/>
          <p:nvPr/>
        </p:nvSpPr>
        <p:spPr>
          <a:xfrm>
            <a:off x="147146" y="177394"/>
            <a:ext cx="11803114" cy="369332"/>
          </a:xfrm>
          <a:prstGeom prst="rect">
            <a:avLst/>
          </a:prstGeom>
          <a:noFill/>
        </p:spPr>
        <p:txBody>
          <a:bodyPr wrap="square">
            <a:spAutoFit/>
          </a:bodyPr>
          <a:lstStyle/>
          <a:p>
            <a:r>
              <a:rPr lang="en-PH" dirty="0"/>
              <a:t>App Physics 157 </a:t>
            </a:r>
            <a:r>
              <a:rPr lang="en-PH" b="1" dirty="0"/>
              <a:t>FX-1									                  5 </a:t>
            </a:r>
            <a:r>
              <a:rPr lang="en-PH" dirty="0"/>
              <a:t>of 5 </a:t>
            </a:r>
          </a:p>
        </p:txBody>
      </p:sp>
      <p:cxnSp>
        <p:nvCxnSpPr>
          <p:cNvPr id="5" name="Straight Connector 4">
            <a:extLst>
              <a:ext uri="{FF2B5EF4-FFF2-40B4-BE49-F238E27FC236}">
                <a16:creationId xmlns:a16="http://schemas.microsoft.com/office/drawing/2014/main" id="{9860F015-D3A6-47B4-A967-6266A5E53936}"/>
              </a:ext>
            </a:extLst>
          </p:cNvPr>
          <p:cNvCxnSpPr>
            <a:cxnSpLocks/>
          </p:cNvCxnSpPr>
          <p:nvPr/>
        </p:nvCxnSpPr>
        <p:spPr>
          <a:xfrm>
            <a:off x="147146" y="586055"/>
            <a:ext cx="11803115" cy="0"/>
          </a:xfrm>
          <a:prstGeom prst="line">
            <a:avLst/>
          </a:prstGeom>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3A1268FA-2793-4E5E-9F51-6E6A33F062ED}"/>
              </a:ext>
            </a:extLst>
          </p:cNvPr>
          <p:cNvSpPr txBox="1">
            <a:spLocks/>
          </p:cNvSpPr>
          <p:nvPr/>
        </p:nvSpPr>
        <p:spPr>
          <a:xfrm>
            <a:off x="260180" y="4912675"/>
            <a:ext cx="1970260" cy="58109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2800" dirty="0">
                <a:latin typeface="Tw Cen MT" panose="020B0602020104020603" pitchFamily="34" charset="0"/>
              </a:rPr>
              <a:t>References </a:t>
            </a:r>
            <a:r>
              <a:rPr lang="en-PH" sz="3600" dirty="0">
                <a:latin typeface="Tw Cen MT" panose="020B0602020104020603" pitchFamily="34" charset="0"/>
              </a:rPr>
              <a:t> </a:t>
            </a:r>
          </a:p>
        </p:txBody>
      </p:sp>
      <p:sp>
        <p:nvSpPr>
          <p:cNvPr id="8" name="Content Placeholder 2">
            <a:extLst>
              <a:ext uri="{FF2B5EF4-FFF2-40B4-BE49-F238E27FC236}">
                <a16:creationId xmlns:a16="http://schemas.microsoft.com/office/drawing/2014/main" id="{896540D9-306C-40D0-A29B-AA7B7B86AB9C}"/>
              </a:ext>
            </a:extLst>
          </p:cNvPr>
          <p:cNvSpPr txBox="1">
            <a:spLocks/>
          </p:cNvSpPr>
          <p:nvPr/>
        </p:nvSpPr>
        <p:spPr>
          <a:xfrm>
            <a:off x="353290" y="1157232"/>
            <a:ext cx="11347188" cy="10158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PH" sz="1600" dirty="0">
                <a:latin typeface="Tw Cen MT" panose="020B0602020104020603" pitchFamily="34" charset="0"/>
              </a:rPr>
              <a:t>Classifiers can be trained to treat binary or continuous data solely based on the thresholding function used. </a:t>
            </a:r>
          </a:p>
          <a:p>
            <a:pPr algn="just"/>
            <a:r>
              <a:rPr lang="en-PH" sz="1600" dirty="0">
                <a:latin typeface="Tw Cen MT" panose="020B0602020104020603" pitchFamily="34" charset="0"/>
              </a:rPr>
              <a:t>Making machine learning models is sometimes an art (like using morphological operators) because you need tailor it to the data on hand and some parameters are entirely up to the user’s judgement. </a:t>
            </a:r>
          </a:p>
        </p:txBody>
      </p:sp>
      <p:sp>
        <p:nvSpPr>
          <p:cNvPr id="10" name="Title 1">
            <a:extLst>
              <a:ext uri="{FF2B5EF4-FFF2-40B4-BE49-F238E27FC236}">
                <a16:creationId xmlns:a16="http://schemas.microsoft.com/office/drawing/2014/main" id="{03708C6C-F341-46C2-B917-893D7C54C3CA}"/>
              </a:ext>
            </a:extLst>
          </p:cNvPr>
          <p:cNvSpPr txBox="1">
            <a:spLocks/>
          </p:cNvSpPr>
          <p:nvPr/>
        </p:nvSpPr>
        <p:spPr>
          <a:xfrm>
            <a:off x="260180" y="1952805"/>
            <a:ext cx="3024619" cy="7375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PH" sz="3600" dirty="0">
                <a:latin typeface="Tw Cen MT" panose="020B0602020104020603" pitchFamily="34" charset="0"/>
              </a:rPr>
              <a:t>Reflection</a:t>
            </a:r>
            <a:endParaRPr lang="en-PH" dirty="0">
              <a:latin typeface="Tw Cen MT" panose="020B0602020104020603" pitchFamily="34" charset="0"/>
            </a:endParaRPr>
          </a:p>
        </p:txBody>
      </p:sp>
      <p:sp>
        <p:nvSpPr>
          <p:cNvPr id="11" name="Content Placeholder 2">
            <a:extLst>
              <a:ext uri="{FF2B5EF4-FFF2-40B4-BE49-F238E27FC236}">
                <a16:creationId xmlns:a16="http://schemas.microsoft.com/office/drawing/2014/main" id="{5A33D309-2E80-4384-8BF1-EFBD662F1A81}"/>
              </a:ext>
            </a:extLst>
          </p:cNvPr>
          <p:cNvSpPr txBox="1">
            <a:spLocks/>
          </p:cNvSpPr>
          <p:nvPr/>
        </p:nvSpPr>
        <p:spPr>
          <a:xfrm>
            <a:off x="2649681" y="2587063"/>
            <a:ext cx="9050797" cy="12220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PH" sz="1600" b="1" dirty="0">
              <a:latin typeface="Tw Cen MT" panose="020B0602020104020603" pitchFamily="34" charset="0"/>
            </a:endParaRPr>
          </a:p>
        </p:txBody>
      </p:sp>
      <p:sp>
        <p:nvSpPr>
          <p:cNvPr id="12" name="TextBox 11">
            <a:extLst>
              <a:ext uri="{FF2B5EF4-FFF2-40B4-BE49-F238E27FC236}">
                <a16:creationId xmlns:a16="http://schemas.microsoft.com/office/drawing/2014/main" id="{24140131-2295-442E-8C7E-0477C154095B}"/>
              </a:ext>
            </a:extLst>
          </p:cNvPr>
          <p:cNvSpPr txBox="1"/>
          <p:nvPr/>
        </p:nvSpPr>
        <p:spPr>
          <a:xfrm>
            <a:off x="278620" y="2487483"/>
            <a:ext cx="11347188" cy="2554545"/>
          </a:xfrm>
          <a:prstGeom prst="rect">
            <a:avLst/>
          </a:prstGeom>
          <a:noFill/>
        </p:spPr>
        <p:txBody>
          <a:bodyPr wrap="square">
            <a:spAutoFit/>
          </a:bodyPr>
          <a:lstStyle/>
          <a:p>
            <a:pPr marL="0" indent="0" algn="just">
              <a:buFont typeface="Arial" panose="020B0604020202020204" pitchFamily="34" charset="0"/>
              <a:buNone/>
            </a:pPr>
            <a:r>
              <a:rPr lang="en-PH" sz="1600" dirty="0">
                <a:latin typeface="Tw Cen MT" panose="020B0602020104020603" pitchFamily="34" charset="0"/>
              </a:rPr>
              <a:t>Out of all the activities done this semester, this is my favorite and probably where my motivation peaked. I’ve heard the word “machine learning” multiple times before but to me it’s just another buzzword that I don’t fully understand. And while yes, as part of my research experience in the institute I was tasked to train models that are more complicated than these ones; but creating them from scratch using nothing but linear algebra gave me a new sense of appreciation and understanding for these classifiers. </a:t>
            </a:r>
            <a:r>
              <a:rPr lang="en-PH" sz="1600" b="1" dirty="0">
                <a:latin typeface="Tw Cen MT" panose="020B0602020104020603" pitchFamily="34" charset="0"/>
              </a:rPr>
              <a:t>Now, whenever I use readily available libraries such as TensorFlow I can confidently say that I know how they work! </a:t>
            </a:r>
            <a:r>
              <a:rPr lang="en-PH" sz="1600" dirty="0">
                <a:latin typeface="Tw Cen MT" panose="020B0602020104020603" pitchFamily="34" charset="0"/>
              </a:rPr>
              <a:t>However if we have too much features, it becomes hard to draw conclusions from the dataset. This is where Principal Component Analysis (PCA) comes in! Unfortunately, it is beyond the scope of this course, but I will definitely study it after this semester (next 2 weeks)!</a:t>
            </a:r>
          </a:p>
          <a:p>
            <a:pPr marL="0" indent="0" algn="just">
              <a:buFont typeface="Arial" panose="020B0604020202020204" pitchFamily="34" charset="0"/>
              <a:buNone/>
            </a:pPr>
            <a:r>
              <a:rPr lang="en-PH" sz="1600" dirty="0">
                <a:latin typeface="Tw Cen MT" panose="020B0602020104020603" pitchFamily="34" charset="0"/>
              </a:rPr>
              <a:t>I did all the necessary tasks stated in the module and the models I trained were very accurate. I had to apply every past activity for feature extraction – which isn’t something we always do manually since there are tools and sources for data everywhere these days. </a:t>
            </a:r>
            <a:r>
              <a:rPr lang="en-PH" sz="1600" b="1" dirty="0">
                <a:latin typeface="Tw Cen MT" panose="020B0602020104020603" pitchFamily="34" charset="0"/>
              </a:rPr>
              <a:t>Hence,</a:t>
            </a:r>
            <a:r>
              <a:rPr lang="en-PH" sz="1600" dirty="0">
                <a:latin typeface="Tw Cen MT" panose="020B0602020104020603" pitchFamily="34" charset="0"/>
              </a:rPr>
              <a:t> </a:t>
            </a:r>
            <a:r>
              <a:rPr lang="en-PH" sz="1600" b="1" dirty="0">
                <a:latin typeface="Tw Cen MT" panose="020B0602020104020603" pitchFamily="34" charset="0"/>
              </a:rPr>
              <a:t>I think I deserve a 100/100 and any bonus points the instructor deems necessary! </a:t>
            </a:r>
          </a:p>
        </p:txBody>
      </p:sp>
    </p:spTree>
    <p:extLst>
      <p:ext uri="{BB962C8B-B14F-4D97-AF65-F5344CB8AC3E}">
        <p14:creationId xmlns:p14="http://schemas.microsoft.com/office/powerpoint/2010/main" val="2394574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2865</TotalTime>
  <Words>1060</Words>
  <Application>Microsoft Office PowerPoint</Application>
  <PresentationFormat>Widescreen</PresentationFormat>
  <Paragraphs>44</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Tw Cen MT</vt:lpstr>
      <vt:lpstr>Wingdings</vt:lpstr>
      <vt:lpstr>Office Theme</vt:lpstr>
      <vt:lpstr> Machine Learning (Supervised): Perceptron and Logistic Regression</vt:lpstr>
      <vt:lpstr>Objectives </vt:lpstr>
      <vt:lpstr> </vt:lpstr>
      <vt:lpstr> </vt:lpstr>
      <vt:lpstr>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Fourier Transform Model of Image Formation (I of II)</dc:title>
  <dc:creator>Edneil</dc:creator>
  <cp:lastModifiedBy>Edneil</cp:lastModifiedBy>
  <cp:revision>163</cp:revision>
  <dcterms:created xsi:type="dcterms:W3CDTF">2023-03-24T05:11:34Z</dcterms:created>
  <dcterms:modified xsi:type="dcterms:W3CDTF">2023-06-16T14:32:21Z</dcterms:modified>
</cp:coreProperties>
</file>