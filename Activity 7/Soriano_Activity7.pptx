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3" r:id="rId1"/>
  </p:sldMasterIdLst>
  <p:sldIdLst>
    <p:sldId id="256" r:id="rId2"/>
    <p:sldId id="258" r:id="rId3"/>
    <p:sldId id="263" r:id="rId4"/>
    <p:sldId id="281" r:id="rId5"/>
    <p:sldId id="283"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89" autoAdjust="0"/>
    <p:restoredTop sz="94660"/>
  </p:normalViewPr>
  <p:slideViewPr>
    <p:cSldViewPr snapToGrid="0">
      <p:cViewPr varScale="1">
        <p:scale>
          <a:sx n="78" d="100"/>
          <a:sy n="78" d="100"/>
        </p:scale>
        <p:origin x="158"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DFCC7-BE5F-4E2F-A0B7-89DECF2292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8744C309-A916-4846-BF9D-4EDBAAA495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E4632129-96B2-4ED4-8A5A-5A99570B8941}"/>
              </a:ext>
            </a:extLst>
          </p:cNvPr>
          <p:cNvSpPr>
            <a:spLocks noGrp="1"/>
          </p:cNvSpPr>
          <p:nvPr>
            <p:ph type="dt" sz="half" idx="10"/>
          </p:nvPr>
        </p:nvSpPr>
        <p:spPr/>
        <p:txBody>
          <a:bodyPr/>
          <a:lstStyle/>
          <a:p>
            <a:fld id="{4E1341C1-FD81-48EA-B020-1DD5EF3E31FB}" type="datetimeFigureOut">
              <a:rPr lang="en-PH" smtClean="0"/>
              <a:t>26/05/2023</a:t>
            </a:fld>
            <a:endParaRPr lang="en-PH"/>
          </a:p>
        </p:txBody>
      </p:sp>
      <p:sp>
        <p:nvSpPr>
          <p:cNvPr id="5" name="Footer Placeholder 4">
            <a:extLst>
              <a:ext uri="{FF2B5EF4-FFF2-40B4-BE49-F238E27FC236}">
                <a16:creationId xmlns:a16="http://schemas.microsoft.com/office/drawing/2014/main" id="{D2EBE942-42DE-4CD9-9E46-4B0B6866B45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23CDCE3-CEEA-4493-AFEE-20E99B0C23FF}"/>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156315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DC1B5-5E3B-4598-A025-33E5632AD4B5}"/>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423943F4-7D93-4DF4-838D-13367FC85D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DC44767-7780-4C67-89B4-4FC910F7B027}"/>
              </a:ext>
            </a:extLst>
          </p:cNvPr>
          <p:cNvSpPr>
            <a:spLocks noGrp="1"/>
          </p:cNvSpPr>
          <p:nvPr>
            <p:ph type="dt" sz="half" idx="10"/>
          </p:nvPr>
        </p:nvSpPr>
        <p:spPr/>
        <p:txBody>
          <a:bodyPr/>
          <a:lstStyle/>
          <a:p>
            <a:fld id="{4E1341C1-FD81-48EA-B020-1DD5EF3E31FB}" type="datetimeFigureOut">
              <a:rPr lang="en-PH" smtClean="0"/>
              <a:t>26/05/2023</a:t>
            </a:fld>
            <a:endParaRPr lang="en-PH"/>
          </a:p>
        </p:txBody>
      </p:sp>
      <p:sp>
        <p:nvSpPr>
          <p:cNvPr id="5" name="Footer Placeholder 4">
            <a:extLst>
              <a:ext uri="{FF2B5EF4-FFF2-40B4-BE49-F238E27FC236}">
                <a16:creationId xmlns:a16="http://schemas.microsoft.com/office/drawing/2014/main" id="{BC5A2813-7991-43DB-BCBD-A3E23FBF2567}"/>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1786C29-3B5C-4959-9A98-488A0F87F61C}"/>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300917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A894E-6117-472B-886A-AC8C6ABE9D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31F91B21-484A-4C7C-9A75-733E8CADCE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E30143-48B9-42B7-8335-617D2EABE03F}"/>
              </a:ext>
            </a:extLst>
          </p:cNvPr>
          <p:cNvSpPr>
            <a:spLocks noGrp="1"/>
          </p:cNvSpPr>
          <p:nvPr>
            <p:ph type="dt" sz="half" idx="10"/>
          </p:nvPr>
        </p:nvSpPr>
        <p:spPr/>
        <p:txBody>
          <a:bodyPr/>
          <a:lstStyle/>
          <a:p>
            <a:fld id="{4E1341C1-FD81-48EA-B020-1DD5EF3E31FB}" type="datetimeFigureOut">
              <a:rPr lang="en-PH" smtClean="0"/>
              <a:t>26/05/2023</a:t>
            </a:fld>
            <a:endParaRPr lang="en-PH"/>
          </a:p>
        </p:txBody>
      </p:sp>
      <p:sp>
        <p:nvSpPr>
          <p:cNvPr id="5" name="Footer Placeholder 4">
            <a:extLst>
              <a:ext uri="{FF2B5EF4-FFF2-40B4-BE49-F238E27FC236}">
                <a16:creationId xmlns:a16="http://schemas.microsoft.com/office/drawing/2014/main" id="{5D3DFC52-7018-490A-B05F-C8A8F8B3396F}"/>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294C306-547E-4AB1-AFFD-0CC5BA1D6CB4}"/>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3672233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80F1F-6B34-41D7-80B1-7C4D5F6B3B94}"/>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FBF89DC8-6118-44C1-A83B-12B0FB87C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D5C74E02-5B39-44B7-BF42-CA661ABA3D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F0EC9E85-F74D-4F6D-8353-92B550C44CA7}"/>
              </a:ext>
            </a:extLst>
          </p:cNvPr>
          <p:cNvSpPr>
            <a:spLocks noGrp="1"/>
          </p:cNvSpPr>
          <p:nvPr>
            <p:ph type="dt" sz="half" idx="10"/>
          </p:nvPr>
        </p:nvSpPr>
        <p:spPr/>
        <p:txBody>
          <a:bodyPr/>
          <a:lstStyle/>
          <a:p>
            <a:fld id="{4E1341C1-FD81-48EA-B020-1DD5EF3E31FB}" type="datetimeFigureOut">
              <a:rPr lang="en-PH" smtClean="0"/>
              <a:t>26/05/2023</a:t>
            </a:fld>
            <a:endParaRPr lang="en-PH"/>
          </a:p>
        </p:txBody>
      </p:sp>
      <p:sp>
        <p:nvSpPr>
          <p:cNvPr id="6" name="Footer Placeholder 5">
            <a:extLst>
              <a:ext uri="{FF2B5EF4-FFF2-40B4-BE49-F238E27FC236}">
                <a16:creationId xmlns:a16="http://schemas.microsoft.com/office/drawing/2014/main" id="{FE5F0AA8-1437-444C-A2A5-3D4C17318454}"/>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2F9C306-629D-4883-B159-6675AFE9304B}"/>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404701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71A94-69F1-452A-8BF8-80C22128D19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D8836C0-0CCA-4F6D-A84F-E508695DF7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6B4B6B-00DE-4593-98EF-0A2C0571C0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47B95F0F-FF08-47C0-8062-C5BBA5D82D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EC09CA-688E-464F-9D87-35D584FDAE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F0BB9FFA-6C7E-4F8E-8A6B-A748036A73C5}"/>
              </a:ext>
            </a:extLst>
          </p:cNvPr>
          <p:cNvSpPr>
            <a:spLocks noGrp="1"/>
          </p:cNvSpPr>
          <p:nvPr>
            <p:ph type="dt" sz="half" idx="10"/>
          </p:nvPr>
        </p:nvSpPr>
        <p:spPr/>
        <p:txBody>
          <a:bodyPr/>
          <a:lstStyle/>
          <a:p>
            <a:fld id="{4E1341C1-FD81-48EA-B020-1DD5EF3E31FB}" type="datetimeFigureOut">
              <a:rPr lang="en-PH" smtClean="0"/>
              <a:t>26/05/2023</a:t>
            </a:fld>
            <a:endParaRPr lang="en-PH"/>
          </a:p>
        </p:txBody>
      </p:sp>
      <p:sp>
        <p:nvSpPr>
          <p:cNvPr id="8" name="Footer Placeholder 7">
            <a:extLst>
              <a:ext uri="{FF2B5EF4-FFF2-40B4-BE49-F238E27FC236}">
                <a16:creationId xmlns:a16="http://schemas.microsoft.com/office/drawing/2014/main" id="{6C7BDDC4-AB18-4DE4-B9F2-6EA962B6FD23}"/>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6F4FFF1B-5263-45E8-8D35-DF01D0947656}"/>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2194091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49336-79C2-4952-B3CC-990C074CEF25}"/>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C9746F42-0252-40AC-9333-3B14EFDEAA73}"/>
              </a:ext>
            </a:extLst>
          </p:cNvPr>
          <p:cNvSpPr>
            <a:spLocks noGrp="1"/>
          </p:cNvSpPr>
          <p:nvPr>
            <p:ph type="dt" sz="half" idx="10"/>
          </p:nvPr>
        </p:nvSpPr>
        <p:spPr/>
        <p:txBody>
          <a:bodyPr/>
          <a:lstStyle/>
          <a:p>
            <a:fld id="{4E1341C1-FD81-48EA-B020-1DD5EF3E31FB}" type="datetimeFigureOut">
              <a:rPr lang="en-PH" smtClean="0"/>
              <a:t>26/05/2023</a:t>
            </a:fld>
            <a:endParaRPr lang="en-PH"/>
          </a:p>
        </p:txBody>
      </p:sp>
      <p:sp>
        <p:nvSpPr>
          <p:cNvPr id="4" name="Footer Placeholder 3">
            <a:extLst>
              <a:ext uri="{FF2B5EF4-FFF2-40B4-BE49-F238E27FC236}">
                <a16:creationId xmlns:a16="http://schemas.microsoft.com/office/drawing/2014/main" id="{0A694981-C388-4F64-B1A9-4B44A3C1942D}"/>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C97EE654-8BEB-4E16-8FA7-27D932905C36}"/>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191906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F9F423-6286-42DC-AE0C-1B646E88089D}"/>
              </a:ext>
            </a:extLst>
          </p:cNvPr>
          <p:cNvSpPr>
            <a:spLocks noGrp="1"/>
          </p:cNvSpPr>
          <p:nvPr>
            <p:ph type="dt" sz="half" idx="10"/>
          </p:nvPr>
        </p:nvSpPr>
        <p:spPr/>
        <p:txBody>
          <a:bodyPr/>
          <a:lstStyle/>
          <a:p>
            <a:fld id="{4E1341C1-FD81-48EA-B020-1DD5EF3E31FB}" type="datetimeFigureOut">
              <a:rPr lang="en-PH" smtClean="0"/>
              <a:t>26/05/2023</a:t>
            </a:fld>
            <a:endParaRPr lang="en-PH"/>
          </a:p>
        </p:txBody>
      </p:sp>
      <p:sp>
        <p:nvSpPr>
          <p:cNvPr id="3" name="Footer Placeholder 2">
            <a:extLst>
              <a:ext uri="{FF2B5EF4-FFF2-40B4-BE49-F238E27FC236}">
                <a16:creationId xmlns:a16="http://schemas.microsoft.com/office/drawing/2014/main" id="{5D88A1AC-3CF4-483C-BDFF-874F1285C317}"/>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CD26E431-3330-42D8-8DA0-36A33C446FEC}"/>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3909480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2BC77-32DC-4049-B57A-834DBACE09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6EFBA4C1-3319-4636-A8FC-D88F831BF3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9ADA55DD-7568-42EB-865F-8A2143AC7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51D6F4-62BD-4C72-B587-6D5C04579A55}"/>
              </a:ext>
            </a:extLst>
          </p:cNvPr>
          <p:cNvSpPr>
            <a:spLocks noGrp="1"/>
          </p:cNvSpPr>
          <p:nvPr>
            <p:ph type="dt" sz="half" idx="10"/>
          </p:nvPr>
        </p:nvSpPr>
        <p:spPr/>
        <p:txBody>
          <a:bodyPr/>
          <a:lstStyle/>
          <a:p>
            <a:fld id="{4E1341C1-FD81-48EA-B020-1DD5EF3E31FB}" type="datetimeFigureOut">
              <a:rPr lang="en-PH" smtClean="0"/>
              <a:t>26/05/2023</a:t>
            </a:fld>
            <a:endParaRPr lang="en-PH"/>
          </a:p>
        </p:txBody>
      </p:sp>
      <p:sp>
        <p:nvSpPr>
          <p:cNvPr id="6" name="Footer Placeholder 5">
            <a:extLst>
              <a:ext uri="{FF2B5EF4-FFF2-40B4-BE49-F238E27FC236}">
                <a16:creationId xmlns:a16="http://schemas.microsoft.com/office/drawing/2014/main" id="{CDBF507C-D4A8-4DD0-B48A-416A84477572}"/>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BB7B2E0-9CFD-48B1-AAE8-5848E15BDFE0}"/>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969701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398A6-39B2-4329-B998-7A53DA5B91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68D04EC8-6E45-4C0B-8925-69D9399B99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A86DD187-F19F-478D-9B47-7629F14EAA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A553B0-DDE6-4A7B-849A-8D0673C137C5}"/>
              </a:ext>
            </a:extLst>
          </p:cNvPr>
          <p:cNvSpPr>
            <a:spLocks noGrp="1"/>
          </p:cNvSpPr>
          <p:nvPr>
            <p:ph type="dt" sz="half" idx="10"/>
          </p:nvPr>
        </p:nvSpPr>
        <p:spPr/>
        <p:txBody>
          <a:bodyPr/>
          <a:lstStyle/>
          <a:p>
            <a:fld id="{4E1341C1-FD81-48EA-B020-1DD5EF3E31FB}" type="datetimeFigureOut">
              <a:rPr lang="en-PH" smtClean="0"/>
              <a:t>26/05/2023</a:t>
            </a:fld>
            <a:endParaRPr lang="en-PH"/>
          </a:p>
        </p:txBody>
      </p:sp>
      <p:sp>
        <p:nvSpPr>
          <p:cNvPr id="6" name="Footer Placeholder 5">
            <a:extLst>
              <a:ext uri="{FF2B5EF4-FFF2-40B4-BE49-F238E27FC236}">
                <a16:creationId xmlns:a16="http://schemas.microsoft.com/office/drawing/2014/main" id="{91FF5786-E11D-4B59-8DAB-85F4DF3FF41A}"/>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ACB1A49-6373-41F7-8F4C-4E0308856031}"/>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783906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CB83C-57AE-4751-96C6-16424610E51F}"/>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61B553E-1ACE-4A3B-BD5C-3A2C37E1B7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BD8F971-679C-468D-B185-7D637C31A1C3}"/>
              </a:ext>
            </a:extLst>
          </p:cNvPr>
          <p:cNvSpPr>
            <a:spLocks noGrp="1"/>
          </p:cNvSpPr>
          <p:nvPr>
            <p:ph type="dt" sz="half" idx="10"/>
          </p:nvPr>
        </p:nvSpPr>
        <p:spPr/>
        <p:txBody>
          <a:bodyPr/>
          <a:lstStyle/>
          <a:p>
            <a:fld id="{4E1341C1-FD81-48EA-B020-1DD5EF3E31FB}" type="datetimeFigureOut">
              <a:rPr lang="en-PH" smtClean="0"/>
              <a:t>26/05/2023</a:t>
            </a:fld>
            <a:endParaRPr lang="en-PH"/>
          </a:p>
        </p:txBody>
      </p:sp>
      <p:sp>
        <p:nvSpPr>
          <p:cNvPr id="5" name="Footer Placeholder 4">
            <a:extLst>
              <a:ext uri="{FF2B5EF4-FFF2-40B4-BE49-F238E27FC236}">
                <a16:creationId xmlns:a16="http://schemas.microsoft.com/office/drawing/2014/main" id="{0C855149-EA4B-48E9-B518-08311FF0672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7FD8DFE-7267-4024-9134-7AF0CE178744}"/>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2110984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D49258-7DC3-4369-9526-067BE43E4C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F5D5D3EC-4037-41ED-AFD7-9302126008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E4FF1FE-3B3B-4F0A-A874-EE2B0C01A16D}"/>
              </a:ext>
            </a:extLst>
          </p:cNvPr>
          <p:cNvSpPr>
            <a:spLocks noGrp="1"/>
          </p:cNvSpPr>
          <p:nvPr>
            <p:ph type="dt" sz="half" idx="10"/>
          </p:nvPr>
        </p:nvSpPr>
        <p:spPr/>
        <p:txBody>
          <a:bodyPr/>
          <a:lstStyle/>
          <a:p>
            <a:fld id="{4E1341C1-FD81-48EA-B020-1DD5EF3E31FB}" type="datetimeFigureOut">
              <a:rPr lang="en-PH" smtClean="0"/>
              <a:t>26/05/2023</a:t>
            </a:fld>
            <a:endParaRPr lang="en-PH"/>
          </a:p>
        </p:txBody>
      </p:sp>
      <p:sp>
        <p:nvSpPr>
          <p:cNvPr id="5" name="Footer Placeholder 4">
            <a:extLst>
              <a:ext uri="{FF2B5EF4-FFF2-40B4-BE49-F238E27FC236}">
                <a16:creationId xmlns:a16="http://schemas.microsoft.com/office/drawing/2014/main" id="{09BF3365-C142-4C74-8862-3FF42B4BE6C3}"/>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207E5A64-3DCD-4A24-9AE7-23CE8E2689DD}"/>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271694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92CB27-B344-49D4-9EEA-16971D37B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0EE9FC1B-F001-4ECD-9F6A-9CF05991F3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38A6C71-2C0F-41D8-ADA1-450E4F5D95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1341C1-FD81-48EA-B020-1DD5EF3E31FB}" type="datetimeFigureOut">
              <a:rPr lang="en-PH" smtClean="0"/>
              <a:t>26/05/2023</a:t>
            </a:fld>
            <a:endParaRPr lang="en-PH"/>
          </a:p>
        </p:txBody>
      </p:sp>
      <p:sp>
        <p:nvSpPr>
          <p:cNvPr id="5" name="Footer Placeholder 4">
            <a:extLst>
              <a:ext uri="{FF2B5EF4-FFF2-40B4-BE49-F238E27FC236}">
                <a16:creationId xmlns:a16="http://schemas.microsoft.com/office/drawing/2014/main" id="{7A8E3990-3812-4940-B5CA-3800964D44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98097B16-282F-45E7-BB1C-80A9AFC2AA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C1F782-C553-4B23-9D38-A3AB8A18CB25}" type="slidenum">
              <a:rPr lang="en-PH" smtClean="0"/>
              <a:t>‹#›</a:t>
            </a:fld>
            <a:endParaRPr lang="en-PH"/>
          </a:p>
        </p:txBody>
      </p:sp>
    </p:spTree>
    <p:extLst>
      <p:ext uri="{BB962C8B-B14F-4D97-AF65-F5344CB8AC3E}">
        <p14:creationId xmlns:p14="http://schemas.microsoft.com/office/powerpoint/2010/main" val="4013798314"/>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C6B2F-1774-4756-BBB9-C09E9C0BB963}"/>
              </a:ext>
            </a:extLst>
          </p:cNvPr>
          <p:cNvSpPr>
            <a:spLocks noGrp="1"/>
          </p:cNvSpPr>
          <p:nvPr>
            <p:ph type="ctrTitle"/>
          </p:nvPr>
        </p:nvSpPr>
        <p:spPr>
          <a:xfrm>
            <a:off x="7334717" y="2360351"/>
            <a:ext cx="4615543" cy="1269581"/>
          </a:xfrm>
        </p:spPr>
        <p:txBody>
          <a:bodyPr>
            <a:noAutofit/>
          </a:bodyPr>
          <a:lstStyle/>
          <a:p>
            <a:br>
              <a:rPr lang="en-PH" sz="3600" b="1" dirty="0">
                <a:latin typeface="Tw Cen MT" panose="020B0602020104020603" pitchFamily="34" charset="0"/>
              </a:rPr>
            </a:br>
            <a:r>
              <a:rPr lang="en-PH" sz="3600" b="1" dirty="0">
                <a:latin typeface="Tw Cen MT" panose="020B0602020104020603" pitchFamily="34" charset="0"/>
              </a:rPr>
              <a:t>Feature Extraction from Labeled Blobs</a:t>
            </a:r>
          </a:p>
        </p:txBody>
      </p:sp>
      <p:sp>
        <p:nvSpPr>
          <p:cNvPr id="3" name="Subtitle 2">
            <a:extLst>
              <a:ext uri="{FF2B5EF4-FFF2-40B4-BE49-F238E27FC236}">
                <a16:creationId xmlns:a16="http://schemas.microsoft.com/office/drawing/2014/main" id="{BEC08A26-8F90-4FB3-9B52-739E658827FC}"/>
              </a:ext>
            </a:extLst>
          </p:cNvPr>
          <p:cNvSpPr>
            <a:spLocks noGrp="1"/>
          </p:cNvSpPr>
          <p:nvPr>
            <p:ph type="subTitle" idx="1"/>
          </p:nvPr>
        </p:nvSpPr>
        <p:spPr>
          <a:xfrm>
            <a:off x="5780689" y="5904977"/>
            <a:ext cx="6295697" cy="1269580"/>
          </a:xfrm>
        </p:spPr>
        <p:txBody>
          <a:bodyPr>
            <a:normAutofit/>
          </a:bodyPr>
          <a:lstStyle/>
          <a:p>
            <a:pPr algn="r"/>
            <a:r>
              <a:rPr lang="en-PH" dirty="0">
                <a:latin typeface="Tw Cen MT" panose="020B0602020104020603" pitchFamily="34" charset="0"/>
              </a:rPr>
              <a:t>Presented by </a:t>
            </a:r>
            <a:r>
              <a:rPr lang="en-PH" b="1" dirty="0">
                <a:latin typeface="Tw Cen MT" panose="020B0602020104020603" pitchFamily="34" charset="0"/>
              </a:rPr>
              <a:t>Soriano, Edneil E. Jr. </a:t>
            </a:r>
          </a:p>
          <a:p>
            <a:pPr algn="r"/>
            <a:r>
              <a:rPr lang="en-PH" dirty="0">
                <a:latin typeface="Tw Cen MT" panose="020B0602020104020603" pitchFamily="34" charset="0"/>
              </a:rPr>
              <a:t>S.N. </a:t>
            </a:r>
            <a:r>
              <a:rPr lang="en-PH" b="1" dirty="0">
                <a:latin typeface="Tw Cen MT" panose="020B0602020104020603" pitchFamily="34" charset="0"/>
              </a:rPr>
              <a:t>202002420 </a:t>
            </a:r>
          </a:p>
        </p:txBody>
      </p:sp>
      <p:cxnSp>
        <p:nvCxnSpPr>
          <p:cNvPr id="5" name="Straight Connector 4">
            <a:extLst>
              <a:ext uri="{FF2B5EF4-FFF2-40B4-BE49-F238E27FC236}">
                <a16:creationId xmlns:a16="http://schemas.microsoft.com/office/drawing/2014/main" id="{BD2C88DF-D94F-422C-8AA1-64E77A418DFA}"/>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0D5201B6-FAA6-48E5-83E6-0B3F73A5D4B3}"/>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1 </a:t>
            </a:r>
            <a:r>
              <a:rPr lang="en-PH" dirty="0"/>
              <a:t>of 6 </a:t>
            </a:r>
            <a:endParaRPr lang="en-PH" b="1" dirty="0"/>
          </a:p>
        </p:txBody>
      </p:sp>
      <p:pic>
        <p:nvPicPr>
          <p:cNvPr id="7" name="Picture 6">
            <a:extLst>
              <a:ext uri="{FF2B5EF4-FFF2-40B4-BE49-F238E27FC236}">
                <a16:creationId xmlns:a16="http://schemas.microsoft.com/office/drawing/2014/main" id="{528FB7C7-5ED3-4574-B900-780AA749399E}"/>
              </a:ext>
            </a:extLst>
          </p:cNvPr>
          <p:cNvPicPr>
            <a:picLocks noChangeAspect="1"/>
          </p:cNvPicPr>
          <p:nvPr/>
        </p:nvPicPr>
        <p:blipFill rotWithShape="1">
          <a:blip r:embed="rId2">
            <a:extLst>
              <a:ext uri="{28A0092B-C50C-407E-A947-70E740481C1C}">
                <a14:useLocalDpi xmlns:a14="http://schemas.microsoft.com/office/drawing/2010/main" val="0"/>
              </a:ext>
            </a:extLst>
          </a:blip>
          <a:srcRect l="12366" t="26660" r="6989" b="32751"/>
          <a:stretch/>
        </p:blipFill>
        <p:spPr>
          <a:xfrm>
            <a:off x="582399" y="824069"/>
            <a:ext cx="6341670" cy="2127853"/>
          </a:xfrm>
          <a:prstGeom prst="rect">
            <a:avLst/>
          </a:prstGeom>
        </p:spPr>
      </p:pic>
      <p:pic>
        <p:nvPicPr>
          <p:cNvPr id="9" name="Picture 8">
            <a:extLst>
              <a:ext uri="{FF2B5EF4-FFF2-40B4-BE49-F238E27FC236}">
                <a16:creationId xmlns:a16="http://schemas.microsoft.com/office/drawing/2014/main" id="{56D15C38-4DB7-49D7-8DC9-B3ECE688ECF5}"/>
              </a:ext>
            </a:extLst>
          </p:cNvPr>
          <p:cNvPicPr>
            <a:picLocks noChangeAspect="1"/>
          </p:cNvPicPr>
          <p:nvPr/>
        </p:nvPicPr>
        <p:blipFill rotWithShape="1">
          <a:blip r:embed="rId3">
            <a:extLst>
              <a:ext uri="{28A0092B-C50C-407E-A947-70E740481C1C}">
                <a14:useLocalDpi xmlns:a14="http://schemas.microsoft.com/office/drawing/2010/main" val="0"/>
              </a:ext>
            </a:extLst>
          </a:blip>
          <a:srcRect l="23882" t="4282" r="21732" b="12498"/>
          <a:stretch/>
        </p:blipFill>
        <p:spPr>
          <a:xfrm>
            <a:off x="423902" y="3538482"/>
            <a:ext cx="2295272" cy="2341461"/>
          </a:xfrm>
          <a:prstGeom prst="rect">
            <a:avLst/>
          </a:prstGeom>
        </p:spPr>
      </p:pic>
      <p:pic>
        <p:nvPicPr>
          <p:cNvPr id="15" name="Picture 14">
            <a:extLst>
              <a:ext uri="{FF2B5EF4-FFF2-40B4-BE49-F238E27FC236}">
                <a16:creationId xmlns:a16="http://schemas.microsoft.com/office/drawing/2014/main" id="{D0F6E139-F0C2-4A52-B99B-728D7CAD91A3}"/>
              </a:ext>
            </a:extLst>
          </p:cNvPr>
          <p:cNvPicPr>
            <a:picLocks noChangeAspect="1"/>
          </p:cNvPicPr>
          <p:nvPr/>
        </p:nvPicPr>
        <p:blipFill rotWithShape="1">
          <a:blip r:embed="rId4">
            <a:extLst>
              <a:ext uri="{28A0092B-C50C-407E-A947-70E740481C1C}">
                <a14:useLocalDpi xmlns:a14="http://schemas.microsoft.com/office/drawing/2010/main" val="0"/>
              </a:ext>
            </a:extLst>
          </a:blip>
          <a:srcRect l="8792" t="4854" r="6585"/>
          <a:stretch/>
        </p:blipFill>
        <p:spPr>
          <a:xfrm>
            <a:off x="2846266" y="3309405"/>
            <a:ext cx="4183997" cy="3136217"/>
          </a:xfrm>
          <a:prstGeom prst="rect">
            <a:avLst/>
          </a:prstGeom>
        </p:spPr>
      </p:pic>
    </p:spTree>
    <p:extLst>
      <p:ext uri="{BB962C8B-B14F-4D97-AF65-F5344CB8AC3E}">
        <p14:creationId xmlns:p14="http://schemas.microsoft.com/office/powerpoint/2010/main" val="2850707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D1D3-DCED-41F9-A947-8D74C6B3C416}"/>
              </a:ext>
            </a:extLst>
          </p:cNvPr>
          <p:cNvSpPr>
            <a:spLocks noGrp="1"/>
          </p:cNvSpPr>
          <p:nvPr>
            <p:ph type="title"/>
          </p:nvPr>
        </p:nvSpPr>
        <p:spPr>
          <a:xfrm>
            <a:off x="241739" y="365125"/>
            <a:ext cx="11112061" cy="1325563"/>
          </a:xfrm>
        </p:spPr>
        <p:txBody>
          <a:bodyPr/>
          <a:lstStyle/>
          <a:p>
            <a:r>
              <a:rPr lang="en-PH" dirty="0">
                <a:latin typeface="Tw Cen MT" panose="020B0602020104020603" pitchFamily="34" charset="0"/>
              </a:rPr>
              <a:t>Objectives </a:t>
            </a:r>
          </a:p>
        </p:txBody>
      </p:sp>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a:off x="378373" y="1954306"/>
            <a:ext cx="11027979" cy="4317639"/>
          </a:xfrm>
        </p:spPr>
        <p:txBody>
          <a:bodyPr>
            <a:normAutofit/>
          </a:bodyPr>
          <a:lstStyle/>
          <a:p>
            <a:pPr algn="just">
              <a:buFont typeface="Wingdings" panose="05000000000000000000" pitchFamily="2" charset="2"/>
              <a:buChar char="§"/>
            </a:pPr>
            <a:r>
              <a:rPr lang="en-PH" sz="3200" dirty="0">
                <a:latin typeface="Tw Cen MT" panose="020B0602020104020603" pitchFamily="34" charset="0"/>
              </a:rPr>
              <a:t>To apply image segmentation techniques and morphological operations in isolating desired objects from an image. </a:t>
            </a:r>
          </a:p>
          <a:p>
            <a:pPr algn="just">
              <a:buFont typeface="Wingdings" panose="05000000000000000000" pitchFamily="2" charset="2"/>
              <a:buChar char="§"/>
            </a:pPr>
            <a:endParaRPr lang="en-PH" sz="3200" dirty="0">
              <a:latin typeface="Tw Cen MT" panose="020B0602020104020603" pitchFamily="34" charset="0"/>
            </a:endParaRPr>
          </a:p>
          <a:p>
            <a:pPr algn="just">
              <a:buFont typeface="Wingdings" panose="05000000000000000000" pitchFamily="2" charset="2"/>
              <a:buChar char="§"/>
            </a:pPr>
            <a:r>
              <a:rPr lang="en-PH" sz="3200" dirty="0">
                <a:latin typeface="Tw Cen MT" panose="020B0602020104020603" pitchFamily="34" charset="0"/>
              </a:rPr>
              <a:t>To label and measure various properties for all objects of interest </a:t>
            </a:r>
            <a:endParaRPr lang="en-PH" dirty="0">
              <a:latin typeface="Tw Cen MT" panose="020B0602020104020603" pitchFamily="34" charset="0"/>
            </a:endParaRPr>
          </a:p>
          <a:p>
            <a:pPr algn="just">
              <a:buFont typeface="Wingdings" panose="05000000000000000000" pitchFamily="2" charset="2"/>
              <a:buChar char="§"/>
            </a:pPr>
            <a:endParaRPr lang="en-PH" dirty="0">
              <a:latin typeface="Tw Cen MT" panose="020B0602020104020603" pitchFamily="34" charset="0"/>
            </a:endParaRPr>
          </a:p>
          <a:p>
            <a:pPr algn="just">
              <a:buFont typeface="Wingdings" panose="05000000000000000000" pitchFamily="2" charset="2"/>
              <a:buChar char="§"/>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lgn="just">
              <a:buFont typeface="Wingdings" panose="05000000000000000000" pitchFamily="2" charset="2"/>
              <a:buChar char="§"/>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2 </a:t>
            </a:r>
            <a:r>
              <a:rPr lang="en-PH" dirty="0"/>
              <a:t>of 6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97106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flipH="1">
            <a:off x="-1828800" y="1503382"/>
            <a:ext cx="1082566" cy="4716023"/>
          </a:xfrm>
        </p:spPr>
        <p:txBody>
          <a:bodyPr>
            <a:normAutofit/>
          </a:bodyPr>
          <a:lstStyle/>
          <a:p>
            <a:pPr marL="0" indent="0" algn="just">
              <a:buNone/>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3 </a:t>
            </a:r>
            <a:r>
              <a:rPr lang="en-PH" dirty="0"/>
              <a:t>of 6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8" name="Title 7">
            <a:extLst>
              <a:ext uri="{FF2B5EF4-FFF2-40B4-BE49-F238E27FC236}">
                <a16:creationId xmlns:a16="http://schemas.microsoft.com/office/drawing/2014/main" id="{7A937F16-FDCD-414C-92E5-5032C4B50BE6}"/>
              </a:ext>
            </a:extLst>
          </p:cNvPr>
          <p:cNvSpPr>
            <a:spLocks noGrp="1"/>
          </p:cNvSpPr>
          <p:nvPr>
            <p:ph type="title"/>
          </p:nvPr>
        </p:nvSpPr>
        <p:spPr>
          <a:xfrm flipH="1">
            <a:off x="-1786759" y="638595"/>
            <a:ext cx="1531883" cy="1325563"/>
          </a:xfrm>
        </p:spPr>
        <p:txBody>
          <a:bodyPr/>
          <a:lstStyle/>
          <a:p>
            <a:r>
              <a:rPr lang="en-PH" dirty="0"/>
              <a:t> </a:t>
            </a:r>
          </a:p>
        </p:txBody>
      </p:sp>
      <p:sp>
        <p:nvSpPr>
          <p:cNvPr id="28" name="TextBox 27">
            <a:extLst>
              <a:ext uri="{FF2B5EF4-FFF2-40B4-BE49-F238E27FC236}">
                <a16:creationId xmlns:a16="http://schemas.microsoft.com/office/drawing/2014/main" id="{1DC9607B-7526-4413-83B2-08B922F88F9F}"/>
              </a:ext>
            </a:extLst>
          </p:cNvPr>
          <p:cNvSpPr txBox="1"/>
          <p:nvPr/>
        </p:nvSpPr>
        <p:spPr>
          <a:xfrm>
            <a:off x="147145" y="586055"/>
            <a:ext cx="10655325" cy="646331"/>
          </a:xfrm>
          <a:prstGeom prst="rect">
            <a:avLst/>
          </a:prstGeom>
          <a:noFill/>
        </p:spPr>
        <p:txBody>
          <a:bodyPr wrap="square">
            <a:spAutoFit/>
          </a:bodyPr>
          <a:lstStyle/>
          <a:p>
            <a:r>
              <a:rPr lang="en-PH" sz="3600" dirty="0">
                <a:latin typeface="Tw Cen MT" panose="020B0602020104020603" pitchFamily="34" charset="0"/>
              </a:rPr>
              <a:t>Image Segmentation and Morphological Treatment</a:t>
            </a:r>
            <a:endParaRPr lang="en-PH" sz="3600" dirty="0"/>
          </a:p>
        </p:txBody>
      </p:sp>
      <p:sp>
        <p:nvSpPr>
          <p:cNvPr id="15" name="TextBox 14">
            <a:extLst>
              <a:ext uri="{FF2B5EF4-FFF2-40B4-BE49-F238E27FC236}">
                <a16:creationId xmlns:a16="http://schemas.microsoft.com/office/drawing/2014/main" id="{673669A0-D16A-43D5-A824-28214DF9DD01}"/>
              </a:ext>
            </a:extLst>
          </p:cNvPr>
          <p:cNvSpPr txBox="1"/>
          <p:nvPr/>
        </p:nvSpPr>
        <p:spPr>
          <a:xfrm>
            <a:off x="147144" y="1232386"/>
            <a:ext cx="5731142" cy="646331"/>
          </a:xfrm>
          <a:prstGeom prst="rect">
            <a:avLst/>
          </a:prstGeom>
          <a:noFill/>
        </p:spPr>
        <p:txBody>
          <a:bodyPr wrap="square">
            <a:spAutoFit/>
          </a:bodyPr>
          <a:lstStyle/>
          <a:p>
            <a:pPr algn="just"/>
            <a:r>
              <a:rPr lang="en-PH" dirty="0">
                <a:latin typeface="Tw Cen MT" panose="020B0602020104020603" pitchFamily="34" charset="0"/>
              </a:rPr>
              <a:t>In this exercise, we analyze tamarind candies taken in random and spread out as shown in Fig 1 (left). </a:t>
            </a:r>
          </a:p>
        </p:txBody>
      </p:sp>
      <p:sp>
        <p:nvSpPr>
          <p:cNvPr id="16" name="TextBox 15">
            <a:extLst>
              <a:ext uri="{FF2B5EF4-FFF2-40B4-BE49-F238E27FC236}">
                <a16:creationId xmlns:a16="http://schemas.microsoft.com/office/drawing/2014/main" id="{E4ECEDCF-D24D-47A8-805E-5491096D8121}"/>
              </a:ext>
            </a:extLst>
          </p:cNvPr>
          <p:cNvSpPr txBox="1"/>
          <p:nvPr/>
        </p:nvSpPr>
        <p:spPr>
          <a:xfrm>
            <a:off x="20872" y="3907701"/>
            <a:ext cx="6083328" cy="584775"/>
          </a:xfrm>
          <a:prstGeom prst="rect">
            <a:avLst/>
          </a:prstGeom>
          <a:noFill/>
        </p:spPr>
        <p:txBody>
          <a:bodyPr wrap="square">
            <a:spAutoFit/>
          </a:bodyPr>
          <a:lstStyle/>
          <a:p>
            <a:pPr algn="ctr"/>
            <a:r>
              <a:rPr lang="en-US" sz="1600" dirty="0">
                <a:latin typeface="Tw Cen MT" panose="020B0602020104020603" pitchFamily="34" charset="0"/>
              </a:rPr>
              <a:t>Fig 1. RGB image used (left), segmented by thresholding (middle), and treated with the closing operator (right). </a:t>
            </a:r>
            <a:endParaRPr lang="en-PH" sz="800" dirty="0">
              <a:latin typeface="Tw Cen MT" panose="020B0602020104020603" pitchFamily="34" charset="0"/>
            </a:endParaRPr>
          </a:p>
        </p:txBody>
      </p:sp>
      <p:sp>
        <p:nvSpPr>
          <p:cNvPr id="18" name="TextBox 17">
            <a:extLst>
              <a:ext uri="{FF2B5EF4-FFF2-40B4-BE49-F238E27FC236}">
                <a16:creationId xmlns:a16="http://schemas.microsoft.com/office/drawing/2014/main" id="{D21D12B6-E909-4B83-BDF9-B4B4718CC33F}"/>
              </a:ext>
            </a:extLst>
          </p:cNvPr>
          <p:cNvSpPr txBox="1"/>
          <p:nvPr/>
        </p:nvSpPr>
        <p:spPr>
          <a:xfrm>
            <a:off x="147143" y="4584577"/>
            <a:ext cx="5731143" cy="2308324"/>
          </a:xfrm>
          <a:prstGeom prst="rect">
            <a:avLst/>
          </a:prstGeom>
          <a:noFill/>
        </p:spPr>
        <p:txBody>
          <a:bodyPr wrap="square">
            <a:spAutoFit/>
          </a:bodyPr>
          <a:lstStyle/>
          <a:p>
            <a:pPr algn="just"/>
            <a:r>
              <a:rPr lang="en-PH" dirty="0">
                <a:latin typeface="Tw Cen MT" panose="020B0602020104020603" pitchFamily="34" charset="0"/>
              </a:rPr>
              <a:t>Now in order to label and extract properties from each candy, we need to segment the image first. In this case since the objects contrast the background in grayscale, </a:t>
            </a:r>
            <a:r>
              <a:rPr lang="en-PH" b="1" dirty="0">
                <a:latin typeface="Tw Cen MT" panose="020B0602020104020603" pitchFamily="34" charset="0"/>
              </a:rPr>
              <a:t>we use simple thresholding to binarize the image</a:t>
            </a:r>
            <a:r>
              <a:rPr lang="en-PH" dirty="0">
                <a:latin typeface="Tw Cen MT" panose="020B0602020104020603" pitchFamily="34" charset="0"/>
              </a:rPr>
              <a:t>. The resultant binarized image is shown in Fig 1 (middle). In this case, the threshold value used was 110 and the image shown in the figure is actually and inverted array of the threshold-treated image (which is needed). </a:t>
            </a:r>
          </a:p>
        </p:txBody>
      </p:sp>
      <p:pic>
        <p:nvPicPr>
          <p:cNvPr id="11" name="Picture 10">
            <a:extLst>
              <a:ext uri="{FF2B5EF4-FFF2-40B4-BE49-F238E27FC236}">
                <a16:creationId xmlns:a16="http://schemas.microsoft.com/office/drawing/2014/main" id="{F5A6C4E6-BC9B-4B26-9855-9168D1A8DB99}"/>
              </a:ext>
            </a:extLst>
          </p:cNvPr>
          <p:cNvPicPr>
            <a:picLocks noChangeAspect="1"/>
          </p:cNvPicPr>
          <p:nvPr/>
        </p:nvPicPr>
        <p:blipFill rotWithShape="1">
          <a:blip r:embed="rId2">
            <a:extLst>
              <a:ext uri="{28A0092B-C50C-407E-A947-70E740481C1C}">
                <a14:useLocalDpi xmlns:a14="http://schemas.microsoft.com/office/drawing/2010/main" val="0"/>
              </a:ext>
            </a:extLst>
          </a:blip>
          <a:srcRect l="11617" t="27410" r="7337" b="33856"/>
          <a:stretch/>
        </p:blipFill>
        <p:spPr>
          <a:xfrm>
            <a:off x="147144" y="2009676"/>
            <a:ext cx="5957056" cy="1898025"/>
          </a:xfrm>
          <a:prstGeom prst="rect">
            <a:avLst/>
          </a:prstGeom>
        </p:spPr>
      </p:pic>
      <p:sp>
        <p:nvSpPr>
          <p:cNvPr id="21" name="TextBox 20">
            <a:extLst>
              <a:ext uri="{FF2B5EF4-FFF2-40B4-BE49-F238E27FC236}">
                <a16:creationId xmlns:a16="http://schemas.microsoft.com/office/drawing/2014/main" id="{593312A4-D88A-4B58-814A-908821CD8C22}"/>
              </a:ext>
            </a:extLst>
          </p:cNvPr>
          <p:cNvSpPr txBox="1"/>
          <p:nvPr/>
        </p:nvSpPr>
        <p:spPr>
          <a:xfrm>
            <a:off x="6219117" y="1232386"/>
            <a:ext cx="5731143" cy="5632311"/>
          </a:xfrm>
          <a:prstGeom prst="rect">
            <a:avLst/>
          </a:prstGeom>
          <a:noFill/>
        </p:spPr>
        <p:txBody>
          <a:bodyPr wrap="square">
            <a:spAutoFit/>
          </a:bodyPr>
          <a:lstStyle/>
          <a:p>
            <a:pPr algn="just"/>
            <a:r>
              <a:rPr lang="en-PH" dirty="0">
                <a:latin typeface="Tw Cen MT" panose="020B0602020104020603" pitchFamily="34" charset="0"/>
              </a:rPr>
              <a:t>Notice that the binarization is not perfect – there are holes present inside the blobs and noise present in the background. </a:t>
            </a:r>
            <a:r>
              <a:rPr lang="en-PH" b="1" dirty="0">
                <a:latin typeface="Tw Cen MT" panose="020B0602020104020603" pitchFamily="34" charset="0"/>
              </a:rPr>
              <a:t>In order to clean up this image, we apply image morphology.</a:t>
            </a:r>
            <a:r>
              <a:rPr lang="en-PH" dirty="0">
                <a:latin typeface="Tw Cen MT" panose="020B0602020104020603" pitchFamily="34" charset="0"/>
              </a:rPr>
              <a:t> In particular, we apply the closing operator to our binarized image, the result of which is shown in Fig 1 (right). </a:t>
            </a:r>
          </a:p>
          <a:p>
            <a:pPr algn="just"/>
            <a:endParaRPr lang="en-PH" dirty="0">
              <a:latin typeface="Tw Cen MT" panose="020B0602020104020603" pitchFamily="34" charset="0"/>
            </a:endParaRPr>
          </a:p>
          <a:p>
            <a:pPr algn="just"/>
            <a:r>
              <a:rPr lang="en-PH" dirty="0">
                <a:latin typeface="Tw Cen MT" panose="020B0602020104020603" pitchFamily="34" charset="0"/>
              </a:rPr>
              <a:t>The result is much cleaner, but it still isn’t perfect. For our current application this will get the job done. However, if we want a better binarization we can do the following:</a:t>
            </a:r>
          </a:p>
          <a:p>
            <a:pPr algn="just"/>
            <a:endParaRPr lang="en-PH" dirty="0">
              <a:latin typeface="Tw Cen MT" panose="020B0602020104020603" pitchFamily="34" charset="0"/>
            </a:endParaRPr>
          </a:p>
          <a:p>
            <a:pPr marL="800100" lvl="1" indent="-342900" algn="just">
              <a:buAutoNum type="alphaLcPeriod"/>
            </a:pPr>
            <a:r>
              <a:rPr lang="en-PH" dirty="0">
                <a:latin typeface="Tw Cen MT" panose="020B0602020104020603" pitchFamily="34" charset="0"/>
              </a:rPr>
              <a:t>Apply the closing operator multiple times, but this will reduce the size of each blob</a:t>
            </a:r>
          </a:p>
          <a:p>
            <a:pPr marL="800100" lvl="1" indent="-342900" algn="just">
              <a:buAutoNum type="alphaLcPeriod"/>
            </a:pPr>
            <a:r>
              <a:rPr lang="en-PH" dirty="0">
                <a:latin typeface="Tw Cen MT" panose="020B0602020104020603" pitchFamily="34" charset="0"/>
              </a:rPr>
              <a:t>Use </a:t>
            </a:r>
            <a:r>
              <a:rPr lang="en-PH" dirty="0" err="1">
                <a:latin typeface="Tw Cen MT" panose="020B0602020104020603" pitchFamily="34" charset="0"/>
              </a:rPr>
              <a:t>skimage’s</a:t>
            </a:r>
            <a:r>
              <a:rPr lang="en-PH" dirty="0">
                <a:latin typeface="Tw Cen MT" panose="020B0602020104020603" pitchFamily="34" charset="0"/>
              </a:rPr>
              <a:t> </a:t>
            </a:r>
            <a:r>
              <a:rPr lang="en-PH" dirty="0" err="1">
                <a:latin typeface="Tw Cen MT" panose="020B0602020104020603" pitchFamily="34" charset="0"/>
              </a:rPr>
              <a:t>area_closing</a:t>
            </a:r>
            <a:r>
              <a:rPr lang="en-PH" dirty="0">
                <a:latin typeface="Tw Cen MT" panose="020B0602020104020603" pitchFamily="34" charset="0"/>
              </a:rPr>
              <a:t> method to close holes</a:t>
            </a:r>
          </a:p>
          <a:p>
            <a:pPr marL="800100" lvl="1" indent="-342900" algn="just">
              <a:buAutoNum type="alphaLcPeriod"/>
            </a:pPr>
            <a:r>
              <a:rPr lang="en-PH" dirty="0">
                <a:latin typeface="Tw Cen MT" panose="020B0602020104020603" pitchFamily="34" charset="0"/>
              </a:rPr>
              <a:t>Apply the opening operator an equal number of time to recover the edges of blobs</a:t>
            </a:r>
          </a:p>
          <a:p>
            <a:pPr marL="800100" lvl="1" indent="-342900" algn="just">
              <a:buAutoNum type="alphaLcPeriod"/>
            </a:pPr>
            <a:endParaRPr lang="en-PH" dirty="0">
              <a:latin typeface="Tw Cen MT" panose="020B0602020104020603" pitchFamily="34" charset="0"/>
            </a:endParaRPr>
          </a:p>
          <a:p>
            <a:pPr algn="just"/>
            <a:r>
              <a:rPr lang="en-PH" dirty="0">
                <a:latin typeface="Tw Cen MT" panose="020B0602020104020603" pitchFamily="34" charset="0"/>
              </a:rPr>
              <a:t>However for our current purposes, however this isn’t necessary as the image is clean enough for the next algorithm.</a:t>
            </a:r>
          </a:p>
        </p:txBody>
      </p:sp>
    </p:spTree>
    <p:extLst>
      <p:ext uri="{BB962C8B-B14F-4D97-AF65-F5344CB8AC3E}">
        <p14:creationId xmlns:p14="http://schemas.microsoft.com/office/powerpoint/2010/main" val="1299167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flipH="1">
            <a:off x="-1828800" y="1503382"/>
            <a:ext cx="1082566" cy="4716023"/>
          </a:xfrm>
        </p:spPr>
        <p:txBody>
          <a:bodyPr>
            <a:normAutofit/>
          </a:bodyPr>
          <a:lstStyle/>
          <a:p>
            <a:pPr marL="0" indent="0" algn="just">
              <a:buNone/>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4 </a:t>
            </a:r>
            <a:r>
              <a:rPr lang="en-PH" dirty="0"/>
              <a:t>of 6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8" name="Title 7">
            <a:extLst>
              <a:ext uri="{FF2B5EF4-FFF2-40B4-BE49-F238E27FC236}">
                <a16:creationId xmlns:a16="http://schemas.microsoft.com/office/drawing/2014/main" id="{7A937F16-FDCD-414C-92E5-5032C4B50BE6}"/>
              </a:ext>
            </a:extLst>
          </p:cNvPr>
          <p:cNvSpPr>
            <a:spLocks noGrp="1"/>
          </p:cNvSpPr>
          <p:nvPr>
            <p:ph type="title"/>
          </p:nvPr>
        </p:nvSpPr>
        <p:spPr>
          <a:xfrm flipH="1">
            <a:off x="-1786759" y="638595"/>
            <a:ext cx="1531883" cy="1325563"/>
          </a:xfrm>
        </p:spPr>
        <p:txBody>
          <a:bodyPr/>
          <a:lstStyle/>
          <a:p>
            <a:r>
              <a:rPr lang="en-PH" dirty="0"/>
              <a:t> </a:t>
            </a:r>
          </a:p>
        </p:txBody>
      </p:sp>
      <p:sp>
        <p:nvSpPr>
          <p:cNvPr id="28" name="TextBox 27">
            <a:extLst>
              <a:ext uri="{FF2B5EF4-FFF2-40B4-BE49-F238E27FC236}">
                <a16:creationId xmlns:a16="http://schemas.microsoft.com/office/drawing/2014/main" id="{1DC9607B-7526-4413-83B2-08B922F88F9F}"/>
              </a:ext>
            </a:extLst>
          </p:cNvPr>
          <p:cNvSpPr txBox="1"/>
          <p:nvPr/>
        </p:nvSpPr>
        <p:spPr>
          <a:xfrm>
            <a:off x="147146" y="586055"/>
            <a:ext cx="6496250" cy="646331"/>
          </a:xfrm>
          <a:prstGeom prst="rect">
            <a:avLst/>
          </a:prstGeom>
          <a:noFill/>
        </p:spPr>
        <p:txBody>
          <a:bodyPr wrap="square">
            <a:spAutoFit/>
          </a:bodyPr>
          <a:lstStyle/>
          <a:p>
            <a:r>
              <a:rPr lang="en-PH" sz="3600" dirty="0">
                <a:latin typeface="Tw Cen MT" panose="020B0602020104020603" pitchFamily="34" charset="0"/>
              </a:rPr>
              <a:t>Labeling and Feature Extraction</a:t>
            </a:r>
            <a:endParaRPr lang="en-PH" sz="3600" dirty="0"/>
          </a:p>
        </p:txBody>
      </p:sp>
      <p:sp>
        <p:nvSpPr>
          <p:cNvPr id="15" name="TextBox 14">
            <a:extLst>
              <a:ext uri="{FF2B5EF4-FFF2-40B4-BE49-F238E27FC236}">
                <a16:creationId xmlns:a16="http://schemas.microsoft.com/office/drawing/2014/main" id="{673669A0-D16A-43D5-A824-28214DF9DD01}"/>
              </a:ext>
            </a:extLst>
          </p:cNvPr>
          <p:cNvSpPr txBox="1"/>
          <p:nvPr/>
        </p:nvSpPr>
        <p:spPr>
          <a:xfrm>
            <a:off x="147143" y="1175346"/>
            <a:ext cx="6097819" cy="923330"/>
          </a:xfrm>
          <a:prstGeom prst="rect">
            <a:avLst/>
          </a:prstGeom>
          <a:noFill/>
        </p:spPr>
        <p:txBody>
          <a:bodyPr wrap="square">
            <a:spAutoFit/>
          </a:bodyPr>
          <a:lstStyle/>
          <a:p>
            <a:pPr algn="just"/>
            <a:r>
              <a:rPr lang="en-PH" dirty="0">
                <a:latin typeface="Tw Cen MT" panose="020B0602020104020603" pitchFamily="34" charset="0"/>
              </a:rPr>
              <a:t>Now we are ready to analyze our blobs – the step of which is to </a:t>
            </a:r>
            <a:r>
              <a:rPr lang="en-PH" b="1" dirty="0">
                <a:latin typeface="Tw Cen MT" panose="020B0602020104020603" pitchFamily="34" charset="0"/>
              </a:rPr>
              <a:t>label our regions into separate entities</a:t>
            </a:r>
            <a:r>
              <a:rPr lang="en-PH" dirty="0">
                <a:latin typeface="Tw Cen MT" panose="020B0602020104020603" pitchFamily="34" charset="0"/>
              </a:rPr>
              <a:t>. We do this by calling </a:t>
            </a:r>
            <a:r>
              <a:rPr lang="en-PH" dirty="0" err="1">
                <a:latin typeface="Tw Cen MT" panose="020B0602020104020603" pitchFamily="34" charset="0"/>
              </a:rPr>
              <a:t>skimage.measure.label</a:t>
            </a:r>
            <a:r>
              <a:rPr lang="en-PH" dirty="0">
                <a:latin typeface="Tw Cen MT" panose="020B0602020104020603" pitchFamily="34" charset="0"/>
              </a:rPr>
              <a:t>. The resulting labeled is shown in Fig 2.</a:t>
            </a:r>
            <a:endParaRPr lang="en-PH" b="1" dirty="0">
              <a:latin typeface="Tw Cen MT" panose="020B0602020104020603" pitchFamily="34" charset="0"/>
            </a:endParaRPr>
          </a:p>
        </p:txBody>
      </p:sp>
      <p:sp>
        <p:nvSpPr>
          <p:cNvPr id="16" name="TextBox 15">
            <a:extLst>
              <a:ext uri="{FF2B5EF4-FFF2-40B4-BE49-F238E27FC236}">
                <a16:creationId xmlns:a16="http://schemas.microsoft.com/office/drawing/2014/main" id="{E4ECEDCF-D24D-47A8-805E-5491096D8121}"/>
              </a:ext>
            </a:extLst>
          </p:cNvPr>
          <p:cNvSpPr txBox="1"/>
          <p:nvPr/>
        </p:nvSpPr>
        <p:spPr>
          <a:xfrm>
            <a:off x="104470" y="4533008"/>
            <a:ext cx="5885239" cy="584775"/>
          </a:xfrm>
          <a:prstGeom prst="rect">
            <a:avLst/>
          </a:prstGeom>
          <a:noFill/>
        </p:spPr>
        <p:txBody>
          <a:bodyPr wrap="square">
            <a:spAutoFit/>
          </a:bodyPr>
          <a:lstStyle/>
          <a:p>
            <a:pPr algn="ctr"/>
            <a:r>
              <a:rPr lang="en-US" sz="1600" dirty="0">
                <a:latin typeface="Tw Cen MT" panose="020B0602020104020603" pitchFamily="34" charset="0"/>
              </a:rPr>
              <a:t>Fig 2. Labeled image where the gradient reflects indexing. We can see that the method starts goes from top to bottom, and left to right.</a:t>
            </a:r>
            <a:endParaRPr lang="en-PH" sz="800" dirty="0">
              <a:latin typeface="Tw Cen MT" panose="020B0602020104020603" pitchFamily="34" charset="0"/>
            </a:endParaRPr>
          </a:p>
        </p:txBody>
      </p:sp>
      <p:sp>
        <p:nvSpPr>
          <p:cNvPr id="18" name="TextBox 17">
            <a:extLst>
              <a:ext uri="{FF2B5EF4-FFF2-40B4-BE49-F238E27FC236}">
                <a16:creationId xmlns:a16="http://schemas.microsoft.com/office/drawing/2014/main" id="{D21D12B6-E909-4B83-BDF9-B4B4718CC33F}"/>
              </a:ext>
            </a:extLst>
          </p:cNvPr>
          <p:cNvSpPr txBox="1"/>
          <p:nvPr/>
        </p:nvSpPr>
        <p:spPr>
          <a:xfrm>
            <a:off x="147143" y="5218668"/>
            <a:ext cx="5881396" cy="1200329"/>
          </a:xfrm>
          <a:prstGeom prst="rect">
            <a:avLst/>
          </a:prstGeom>
          <a:noFill/>
        </p:spPr>
        <p:txBody>
          <a:bodyPr wrap="square">
            <a:spAutoFit/>
          </a:bodyPr>
          <a:lstStyle/>
          <a:p>
            <a:pPr algn="just"/>
            <a:r>
              <a:rPr lang="en-PH" b="1" dirty="0">
                <a:latin typeface="Tw Cen MT" panose="020B0602020104020603" pitchFamily="34" charset="0"/>
              </a:rPr>
              <a:t>Now we are ready to get the properties of each blob. </a:t>
            </a:r>
            <a:r>
              <a:rPr lang="en-PH" dirty="0">
                <a:latin typeface="Tw Cen MT" panose="020B0602020104020603" pitchFamily="34" charset="0"/>
              </a:rPr>
              <a:t>We do this with the </a:t>
            </a:r>
            <a:r>
              <a:rPr lang="en-PH" dirty="0" err="1">
                <a:latin typeface="Tw Cen MT" panose="020B0602020104020603" pitchFamily="34" charset="0"/>
              </a:rPr>
              <a:t>skimage.measure.regionprops_table</a:t>
            </a:r>
            <a:r>
              <a:rPr lang="en-PH" dirty="0">
                <a:latin typeface="Tw Cen MT" panose="020B0602020104020603" pitchFamily="34" charset="0"/>
              </a:rPr>
              <a:t>. However, we filter out entries with areas below a threshold to filter out noise. Some of the accepted regions are shown in Table 1.</a:t>
            </a:r>
          </a:p>
        </p:txBody>
      </p:sp>
      <p:pic>
        <p:nvPicPr>
          <p:cNvPr id="6" name="Picture 5">
            <a:extLst>
              <a:ext uri="{FF2B5EF4-FFF2-40B4-BE49-F238E27FC236}">
                <a16:creationId xmlns:a16="http://schemas.microsoft.com/office/drawing/2014/main" id="{94195BB8-20A7-41B5-8C4E-F2B72149D9E1}"/>
              </a:ext>
            </a:extLst>
          </p:cNvPr>
          <p:cNvPicPr>
            <a:picLocks noChangeAspect="1"/>
          </p:cNvPicPr>
          <p:nvPr/>
        </p:nvPicPr>
        <p:blipFill rotWithShape="1">
          <a:blip r:embed="rId2">
            <a:extLst>
              <a:ext uri="{28A0092B-C50C-407E-A947-70E740481C1C}">
                <a14:useLocalDpi xmlns:a14="http://schemas.microsoft.com/office/drawing/2010/main" val="0"/>
              </a:ext>
            </a:extLst>
          </a:blip>
          <a:srcRect l="1" t="1" r="587" b="50194"/>
          <a:stretch/>
        </p:blipFill>
        <p:spPr>
          <a:xfrm>
            <a:off x="6490358" y="1232386"/>
            <a:ext cx="5450483" cy="2630544"/>
          </a:xfrm>
          <a:prstGeom prst="rect">
            <a:avLst/>
          </a:prstGeom>
        </p:spPr>
      </p:pic>
      <p:pic>
        <p:nvPicPr>
          <p:cNvPr id="12" name="Picture 11">
            <a:extLst>
              <a:ext uri="{FF2B5EF4-FFF2-40B4-BE49-F238E27FC236}">
                <a16:creationId xmlns:a16="http://schemas.microsoft.com/office/drawing/2014/main" id="{7C2CB3E3-7C86-4FA0-8377-EA61626A3739}"/>
              </a:ext>
            </a:extLst>
          </p:cNvPr>
          <p:cNvPicPr>
            <a:picLocks noChangeAspect="1"/>
          </p:cNvPicPr>
          <p:nvPr/>
        </p:nvPicPr>
        <p:blipFill rotWithShape="1">
          <a:blip r:embed="rId3">
            <a:extLst>
              <a:ext uri="{28A0092B-C50C-407E-A947-70E740481C1C}">
                <a14:useLocalDpi xmlns:a14="http://schemas.microsoft.com/office/drawing/2010/main" val="0"/>
              </a:ext>
            </a:extLst>
          </a:blip>
          <a:srcRect l="23923" t="5739" r="21485" b="11608"/>
          <a:stretch/>
        </p:blipFill>
        <p:spPr>
          <a:xfrm>
            <a:off x="1825970" y="2098676"/>
            <a:ext cx="2442240" cy="2465063"/>
          </a:xfrm>
          <a:prstGeom prst="rect">
            <a:avLst/>
          </a:prstGeom>
        </p:spPr>
      </p:pic>
      <p:sp>
        <p:nvSpPr>
          <p:cNvPr id="19" name="TextBox 18">
            <a:extLst>
              <a:ext uri="{FF2B5EF4-FFF2-40B4-BE49-F238E27FC236}">
                <a16:creationId xmlns:a16="http://schemas.microsoft.com/office/drawing/2014/main" id="{CBFAE4BC-49BA-44F3-88E6-8693D5D36958}"/>
              </a:ext>
            </a:extLst>
          </p:cNvPr>
          <p:cNvSpPr txBox="1"/>
          <p:nvPr/>
        </p:nvSpPr>
        <p:spPr>
          <a:xfrm>
            <a:off x="6244962" y="895271"/>
            <a:ext cx="5945443" cy="338554"/>
          </a:xfrm>
          <a:prstGeom prst="rect">
            <a:avLst/>
          </a:prstGeom>
          <a:noFill/>
        </p:spPr>
        <p:txBody>
          <a:bodyPr wrap="square">
            <a:spAutoFit/>
          </a:bodyPr>
          <a:lstStyle/>
          <a:p>
            <a:pPr algn="ctr"/>
            <a:r>
              <a:rPr lang="en-US" sz="1600" dirty="0">
                <a:latin typeface="Tw Cen MT" panose="020B0602020104020603" pitchFamily="34" charset="0"/>
              </a:rPr>
              <a:t>Table 1. Properties of accepted regions based on area thresholding</a:t>
            </a:r>
            <a:endParaRPr lang="en-PH" sz="800" dirty="0">
              <a:latin typeface="Tw Cen MT" panose="020B0602020104020603" pitchFamily="34" charset="0"/>
            </a:endParaRPr>
          </a:p>
        </p:txBody>
      </p:sp>
      <p:sp>
        <p:nvSpPr>
          <p:cNvPr id="20" name="TextBox 19">
            <a:extLst>
              <a:ext uri="{FF2B5EF4-FFF2-40B4-BE49-F238E27FC236}">
                <a16:creationId xmlns:a16="http://schemas.microsoft.com/office/drawing/2014/main" id="{A5672B84-11BB-41B3-9299-CD7B79CE7B5A}"/>
              </a:ext>
            </a:extLst>
          </p:cNvPr>
          <p:cNvSpPr txBox="1"/>
          <p:nvPr/>
        </p:nvSpPr>
        <p:spPr>
          <a:xfrm>
            <a:off x="6329681" y="4159160"/>
            <a:ext cx="5611160" cy="646331"/>
          </a:xfrm>
          <a:prstGeom prst="rect">
            <a:avLst/>
          </a:prstGeom>
          <a:noFill/>
        </p:spPr>
        <p:txBody>
          <a:bodyPr wrap="square">
            <a:spAutoFit/>
          </a:bodyPr>
          <a:lstStyle/>
          <a:p>
            <a:pPr algn="just"/>
            <a:r>
              <a:rPr lang="en-PH" b="1" dirty="0">
                <a:latin typeface="Tw Cen MT" panose="020B0602020104020603" pitchFamily="34" charset="0"/>
              </a:rPr>
              <a:t>We end up with 35 blobs (just as we expect)</a:t>
            </a:r>
            <a:r>
              <a:rPr lang="en-PH" dirty="0">
                <a:latin typeface="Tw Cen MT" panose="020B0602020104020603" pitchFamily="34" charset="0"/>
              </a:rPr>
              <a:t>, and 34 (for symmetry of the plot) of them are shown below in Fig 3. </a:t>
            </a:r>
          </a:p>
        </p:txBody>
      </p:sp>
      <p:pic>
        <p:nvPicPr>
          <p:cNvPr id="1026" name="Picture 2">
            <a:extLst>
              <a:ext uri="{FF2B5EF4-FFF2-40B4-BE49-F238E27FC236}">
                <a16:creationId xmlns:a16="http://schemas.microsoft.com/office/drawing/2014/main" id="{AF828172-429E-43FC-BB75-FBEBD8A96F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7118" y="5084626"/>
            <a:ext cx="4796960" cy="958265"/>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1C61C614-7EB9-463B-AF7B-B569FC4A160A}"/>
              </a:ext>
            </a:extLst>
          </p:cNvPr>
          <p:cNvSpPr txBox="1"/>
          <p:nvPr/>
        </p:nvSpPr>
        <p:spPr>
          <a:xfrm>
            <a:off x="6583559" y="6027187"/>
            <a:ext cx="5264078" cy="338554"/>
          </a:xfrm>
          <a:prstGeom prst="rect">
            <a:avLst/>
          </a:prstGeom>
          <a:noFill/>
        </p:spPr>
        <p:txBody>
          <a:bodyPr wrap="square">
            <a:spAutoFit/>
          </a:bodyPr>
          <a:lstStyle/>
          <a:p>
            <a:pPr algn="ctr"/>
            <a:r>
              <a:rPr lang="en-US" sz="1600" dirty="0">
                <a:latin typeface="Tw Cen MT" panose="020B0602020104020603" pitchFamily="34" charset="0"/>
              </a:rPr>
              <a:t>Fig 3. Accepted blobs from the image using an area threshold</a:t>
            </a:r>
            <a:endParaRPr lang="en-PH" sz="800" dirty="0">
              <a:latin typeface="Tw Cen MT" panose="020B0602020104020603" pitchFamily="34" charset="0"/>
            </a:endParaRPr>
          </a:p>
        </p:txBody>
      </p:sp>
    </p:spTree>
    <p:extLst>
      <p:ext uri="{BB962C8B-B14F-4D97-AF65-F5344CB8AC3E}">
        <p14:creationId xmlns:p14="http://schemas.microsoft.com/office/powerpoint/2010/main" val="139943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flipH="1">
            <a:off x="-1828800" y="1503382"/>
            <a:ext cx="1082566" cy="4716023"/>
          </a:xfrm>
        </p:spPr>
        <p:txBody>
          <a:bodyPr>
            <a:normAutofit/>
          </a:bodyPr>
          <a:lstStyle/>
          <a:p>
            <a:pPr marL="0" indent="0" algn="just">
              <a:buNone/>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5 </a:t>
            </a:r>
            <a:r>
              <a:rPr lang="en-PH" dirty="0"/>
              <a:t>of 6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8" name="Title 7">
            <a:extLst>
              <a:ext uri="{FF2B5EF4-FFF2-40B4-BE49-F238E27FC236}">
                <a16:creationId xmlns:a16="http://schemas.microsoft.com/office/drawing/2014/main" id="{7A937F16-FDCD-414C-92E5-5032C4B50BE6}"/>
              </a:ext>
            </a:extLst>
          </p:cNvPr>
          <p:cNvSpPr>
            <a:spLocks noGrp="1"/>
          </p:cNvSpPr>
          <p:nvPr>
            <p:ph type="title"/>
          </p:nvPr>
        </p:nvSpPr>
        <p:spPr>
          <a:xfrm flipH="1">
            <a:off x="-1786759" y="638595"/>
            <a:ext cx="1531883" cy="1325563"/>
          </a:xfrm>
        </p:spPr>
        <p:txBody>
          <a:bodyPr/>
          <a:lstStyle/>
          <a:p>
            <a:r>
              <a:rPr lang="en-PH" dirty="0"/>
              <a:t> </a:t>
            </a:r>
          </a:p>
        </p:txBody>
      </p:sp>
      <p:sp>
        <p:nvSpPr>
          <p:cNvPr id="28" name="TextBox 27">
            <a:extLst>
              <a:ext uri="{FF2B5EF4-FFF2-40B4-BE49-F238E27FC236}">
                <a16:creationId xmlns:a16="http://schemas.microsoft.com/office/drawing/2014/main" id="{1DC9607B-7526-4413-83B2-08B922F88F9F}"/>
              </a:ext>
            </a:extLst>
          </p:cNvPr>
          <p:cNvSpPr txBox="1"/>
          <p:nvPr/>
        </p:nvSpPr>
        <p:spPr>
          <a:xfrm>
            <a:off x="147146" y="586055"/>
            <a:ext cx="6496250" cy="646331"/>
          </a:xfrm>
          <a:prstGeom prst="rect">
            <a:avLst/>
          </a:prstGeom>
          <a:noFill/>
        </p:spPr>
        <p:txBody>
          <a:bodyPr wrap="square">
            <a:spAutoFit/>
          </a:bodyPr>
          <a:lstStyle/>
          <a:p>
            <a:r>
              <a:rPr lang="en-PH" sz="3600" dirty="0">
                <a:latin typeface="Tw Cen MT" panose="020B0602020104020603" pitchFamily="34" charset="0"/>
              </a:rPr>
              <a:t>Labeling and Feature Extraction</a:t>
            </a:r>
            <a:endParaRPr lang="en-PH" sz="3600" dirty="0"/>
          </a:p>
        </p:txBody>
      </p:sp>
      <p:sp>
        <p:nvSpPr>
          <p:cNvPr id="15" name="TextBox 14">
            <a:extLst>
              <a:ext uri="{FF2B5EF4-FFF2-40B4-BE49-F238E27FC236}">
                <a16:creationId xmlns:a16="http://schemas.microsoft.com/office/drawing/2014/main" id="{673669A0-D16A-43D5-A824-28214DF9DD01}"/>
              </a:ext>
            </a:extLst>
          </p:cNvPr>
          <p:cNvSpPr txBox="1"/>
          <p:nvPr/>
        </p:nvSpPr>
        <p:spPr>
          <a:xfrm>
            <a:off x="147143" y="1175346"/>
            <a:ext cx="6097819" cy="923330"/>
          </a:xfrm>
          <a:prstGeom prst="rect">
            <a:avLst/>
          </a:prstGeom>
          <a:noFill/>
        </p:spPr>
        <p:txBody>
          <a:bodyPr wrap="square">
            <a:spAutoFit/>
          </a:bodyPr>
          <a:lstStyle/>
          <a:p>
            <a:pPr algn="just"/>
            <a:r>
              <a:rPr lang="en-PH" dirty="0">
                <a:latin typeface="Tw Cen MT" panose="020B0602020104020603" pitchFamily="34" charset="0"/>
              </a:rPr>
              <a:t>For us to appreciate this process more, </a:t>
            </a:r>
            <a:r>
              <a:rPr lang="en-PH" b="1" dirty="0">
                <a:latin typeface="Tw Cen MT" panose="020B0602020104020603" pitchFamily="34" charset="0"/>
              </a:rPr>
              <a:t>I overlay the selected blobs to the original image </a:t>
            </a:r>
            <a:r>
              <a:rPr lang="en-PH" dirty="0">
                <a:latin typeface="Tw Cen MT" panose="020B0602020104020603" pitchFamily="34" charset="0"/>
              </a:rPr>
              <a:t>to show a rudimentary form of machine vision. </a:t>
            </a:r>
          </a:p>
        </p:txBody>
      </p:sp>
      <p:sp>
        <p:nvSpPr>
          <p:cNvPr id="16" name="TextBox 15">
            <a:extLst>
              <a:ext uri="{FF2B5EF4-FFF2-40B4-BE49-F238E27FC236}">
                <a16:creationId xmlns:a16="http://schemas.microsoft.com/office/drawing/2014/main" id="{E4ECEDCF-D24D-47A8-805E-5491096D8121}"/>
              </a:ext>
            </a:extLst>
          </p:cNvPr>
          <p:cNvSpPr txBox="1"/>
          <p:nvPr/>
        </p:nvSpPr>
        <p:spPr>
          <a:xfrm>
            <a:off x="163464" y="4759325"/>
            <a:ext cx="5885239" cy="338554"/>
          </a:xfrm>
          <a:prstGeom prst="rect">
            <a:avLst/>
          </a:prstGeom>
          <a:noFill/>
        </p:spPr>
        <p:txBody>
          <a:bodyPr wrap="square">
            <a:spAutoFit/>
          </a:bodyPr>
          <a:lstStyle/>
          <a:p>
            <a:pPr algn="ctr"/>
            <a:r>
              <a:rPr lang="en-US" sz="1600" dirty="0">
                <a:latin typeface="Tw Cen MT" panose="020B0602020104020603" pitchFamily="34" charset="0"/>
              </a:rPr>
              <a:t>Fig 4. Image segmentation and labelling without machine learning. </a:t>
            </a:r>
            <a:endParaRPr lang="en-PH" sz="800" dirty="0">
              <a:latin typeface="Tw Cen MT" panose="020B0602020104020603" pitchFamily="34" charset="0"/>
            </a:endParaRPr>
          </a:p>
        </p:txBody>
      </p:sp>
      <p:sp>
        <p:nvSpPr>
          <p:cNvPr id="18" name="TextBox 17">
            <a:extLst>
              <a:ext uri="{FF2B5EF4-FFF2-40B4-BE49-F238E27FC236}">
                <a16:creationId xmlns:a16="http://schemas.microsoft.com/office/drawing/2014/main" id="{D21D12B6-E909-4B83-BDF9-B4B4718CC33F}"/>
              </a:ext>
            </a:extLst>
          </p:cNvPr>
          <p:cNvSpPr txBox="1"/>
          <p:nvPr/>
        </p:nvSpPr>
        <p:spPr>
          <a:xfrm>
            <a:off x="147142" y="5116919"/>
            <a:ext cx="5948857" cy="1754326"/>
          </a:xfrm>
          <a:prstGeom prst="rect">
            <a:avLst/>
          </a:prstGeom>
          <a:noFill/>
        </p:spPr>
        <p:txBody>
          <a:bodyPr wrap="square">
            <a:spAutoFit/>
          </a:bodyPr>
          <a:lstStyle/>
          <a:p>
            <a:pPr algn="just"/>
            <a:r>
              <a:rPr lang="en-PH" dirty="0">
                <a:latin typeface="Tw Cen MT" panose="020B0602020104020603" pitchFamily="34" charset="0"/>
              </a:rPr>
              <a:t>We can see that there are errors in the form of small holes in our objects. These contribute to errors in the measured properties, but I think these errors are negligible in the statistical analysis we will do later. The image above is labeled and segmented, we can use this information later on for simple machine learning algorithms like k-nearest neighbor!</a:t>
            </a:r>
          </a:p>
        </p:txBody>
      </p:sp>
      <p:pic>
        <p:nvPicPr>
          <p:cNvPr id="7" name="Picture 6">
            <a:extLst>
              <a:ext uri="{FF2B5EF4-FFF2-40B4-BE49-F238E27FC236}">
                <a16:creationId xmlns:a16="http://schemas.microsoft.com/office/drawing/2014/main" id="{1AAD50D7-006D-47EB-BFCF-81A3DAA0170A}"/>
              </a:ext>
            </a:extLst>
          </p:cNvPr>
          <p:cNvPicPr>
            <a:picLocks noChangeAspect="1"/>
          </p:cNvPicPr>
          <p:nvPr/>
        </p:nvPicPr>
        <p:blipFill rotWithShape="1">
          <a:blip r:embed="rId2">
            <a:extLst>
              <a:ext uri="{28A0092B-C50C-407E-A947-70E740481C1C}">
                <a14:useLocalDpi xmlns:a14="http://schemas.microsoft.com/office/drawing/2010/main" val="0"/>
              </a:ext>
            </a:extLst>
          </a:blip>
          <a:srcRect l="23923" t="5264" r="21448" b="12193"/>
          <a:stretch/>
        </p:blipFill>
        <p:spPr>
          <a:xfrm>
            <a:off x="1796223" y="1920166"/>
            <a:ext cx="2799657" cy="2820119"/>
          </a:xfrm>
          <a:prstGeom prst="rect">
            <a:avLst/>
          </a:prstGeom>
        </p:spPr>
      </p:pic>
      <p:sp>
        <p:nvSpPr>
          <p:cNvPr id="21" name="TextBox 20">
            <a:extLst>
              <a:ext uri="{FF2B5EF4-FFF2-40B4-BE49-F238E27FC236}">
                <a16:creationId xmlns:a16="http://schemas.microsoft.com/office/drawing/2014/main" id="{651C8158-848B-4E28-90BE-60909ECCB3A5}"/>
              </a:ext>
            </a:extLst>
          </p:cNvPr>
          <p:cNvSpPr txBox="1"/>
          <p:nvPr/>
        </p:nvSpPr>
        <p:spPr>
          <a:xfrm>
            <a:off x="6329680" y="659850"/>
            <a:ext cx="5620580" cy="1815882"/>
          </a:xfrm>
          <a:prstGeom prst="rect">
            <a:avLst/>
          </a:prstGeom>
          <a:noFill/>
        </p:spPr>
        <p:txBody>
          <a:bodyPr wrap="square">
            <a:spAutoFit/>
          </a:bodyPr>
          <a:lstStyle/>
          <a:p>
            <a:pPr algn="just"/>
            <a:r>
              <a:rPr lang="en-PH" sz="1600" b="1" dirty="0">
                <a:latin typeface="Tw Cen MT" panose="020B0602020104020603" pitchFamily="34" charset="0"/>
              </a:rPr>
              <a:t>Now that we have the properties of all the blobs in our image, what do we do with it? </a:t>
            </a:r>
            <a:r>
              <a:rPr lang="en-PH" sz="1600" dirty="0">
                <a:latin typeface="Tw Cen MT" panose="020B0602020104020603" pitchFamily="34" charset="0"/>
              </a:rPr>
              <a:t>In this example, I have chosen to determine the distribution of areas for randomly distributed candies. In theory, this will follow a pseudo-normal distribution. </a:t>
            </a:r>
            <a:r>
              <a:rPr lang="en-PH" sz="1600" b="1" dirty="0">
                <a:latin typeface="Tw Cen MT" panose="020B0602020104020603" pitchFamily="34" charset="0"/>
              </a:rPr>
              <a:t>I  generate a histogram then employ a Gaussian kernel density estimation to generate a probability density function for candy area. </a:t>
            </a:r>
            <a:r>
              <a:rPr lang="en-PH" sz="1600" dirty="0">
                <a:latin typeface="Tw Cen MT" panose="020B0602020104020603" pitchFamily="34" charset="0"/>
              </a:rPr>
              <a:t>The results are shown below:</a:t>
            </a:r>
            <a:endParaRPr lang="en-PH" sz="1600" b="1" dirty="0">
              <a:latin typeface="Tw Cen MT" panose="020B0602020104020603" pitchFamily="34" charset="0"/>
            </a:endParaRPr>
          </a:p>
        </p:txBody>
      </p:sp>
      <p:pic>
        <p:nvPicPr>
          <p:cNvPr id="13" name="Picture 12">
            <a:extLst>
              <a:ext uri="{FF2B5EF4-FFF2-40B4-BE49-F238E27FC236}">
                <a16:creationId xmlns:a16="http://schemas.microsoft.com/office/drawing/2014/main" id="{C4A1E4CD-511A-4972-A8E1-D0550E46B42D}"/>
              </a:ext>
            </a:extLst>
          </p:cNvPr>
          <p:cNvPicPr>
            <a:picLocks noChangeAspect="1"/>
          </p:cNvPicPr>
          <p:nvPr/>
        </p:nvPicPr>
        <p:blipFill rotWithShape="1">
          <a:blip r:embed="rId3">
            <a:extLst>
              <a:ext uri="{28A0092B-C50C-407E-A947-70E740481C1C}">
                <a14:useLocalDpi xmlns:a14="http://schemas.microsoft.com/office/drawing/2010/main" val="0"/>
              </a:ext>
            </a:extLst>
          </a:blip>
          <a:srcRect l="6296" t="5987" r="3952" b="1241"/>
          <a:stretch/>
        </p:blipFill>
        <p:spPr>
          <a:xfrm>
            <a:off x="7289653" y="2586344"/>
            <a:ext cx="3700634" cy="2550098"/>
          </a:xfrm>
          <a:prstGeom prst="rect">
            <a:avLst/>
          </a:prstGeom>
        </p:spPr>
      </p:pic>
      <p:sp>
        <p:nvSpPr>
          <p:cNvPr id="14" name="TextBox 13">
            <a:extLst>
              <a:ext uri="{FF2B5EF4-FFF2-40B4-BE49-F238E27FC236}">
                <a16:creationId xmlns:a16="http://schemas.microsoft.com/office/drawing/2014/main" id="{80E2F9F7-DCD5-4073-ACF6-798DB856CFD0}"/>
              </a:ext>
            </a:extLst>
          </p:cNvPr>
          <p:cNvSpPr txBox="1"/>
          <p:nvPr/>
        </p:nvSpPr>
        <p:spPr>
          <a:xfrm>
            <a:off x="6329680" y="5247054"/>
            <a:ext cx="5405120" cy="1569660"/>
          </a:xfrm>
          <a:prstGeom prst="rect">
            <a:avLst/>
          </a:prstGeom>
          <a:noFill/>
        </p:spPr>
        <p:txBody>
          <a:bodyPr wrap="square">
            <a:spAutoFit/>
          </a:bodyPr>
          <a:lstStyle/>
          <a:p>
            <a:pPr algn="just"/>
            <a:r>
              <a:rPr lang="en-PH" sz="1600" dirty="0">
                <a:latin typeface="Tw Cen MT" panose="020B0602020104020603" pitchFamily="34" charset="0"/>
              </a:rPr>
              <a:t>We can see that the areas follow the shape of a single Gaussian. </a:t>
            </a:r>
            <a:r>
              <a:rPr lang="en-PH" sz="1600" b="1" dirty="0">
                <a:latin typeface="Tw Cen MT" panose="020B0602020104020603" pitchFamily="34" charset="0"/>
              </a:rPr>
              <a:t>With this result, we now have a function to predict the areas for any future tamarind candies that we may want to make.</a:t>
            </a:r>
            <a:r>
              <a:rPr lang="en-PH" sz="1600" dirty="0">
                <a:latin typeface="Tw Cen MT" panose="020B0602020104020603" pitchFamily="34" charset="0"/>
              </a:rPr>
              <a:t> This has direct application in product packaging! We can do all sorts of analyses with the properties we extracted from the blobs. </a:t>
            </a:r>
          </a:p>
        </p:txBody>
      </p:sp>
    </p:spTree>
    <p:extLst>
      <p:ext uri="{BB962C8B-B14F-4D97-AF65-F5344CB8AC3E}">
        <p14:creationId xmlns:p14="http://schemas.microsoft.com/office/powerpoint/2010/main" val="3733300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D1D3-DCED-41F9-A947-8D74C6B3C416}"/>
              </a:ext>
            </a:extLst>
          </p:cNvPr>
          <p:cNvSpPr>
            <a:spLocks noGrp="1"/>
          </p:cNvSpPr>
          <p:nvPr>
            <p:ph type="title"/>
          </p:nvPr>
        </p:nvSpPr>
        <p:spPr>
          <a:xfrm>
            <a:off x="260604" y="507603"/>
            <a:ext cx="3024619" cy="737590"/>
          </a:xfrm>
        </p:spPr>
        <p:txBody>
          <a:bodyPr>
            <a:normAutofit/>
          </a:bodyPr>
          <a:lstStyle/>
          <a:p>
            <a:r>
              <a:rPr lang="en-PH" sz="3600" dirty="0">
                <a:latin typeface="Tw Cen MT" panose="020B0602020104020603" pitchFamily="34" charset="0"/>
              </a:rPr>
              <a:t>Key Takeaways</a:t>
            </a:r>
            <a:r>
              <a:rPr lang="en-PH" dirty="0">
                <a:latin typeface="Tw Cen MT" panose="020B0602020104020603" pitchFamily="34" charset="0"/>
              </a:rPr>
              <a:t> </a:t>
            </a:r>
          </a:p>
        </p:txBody>
      </p:sp>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a:off x="278620" y="5493771"/>
            <a:ext cx="11671640" cy="1293690"/>
          </a:xfrm>
        </p:spPr>
        <p:txBody>
          <a:bodyPr>
            <a:normAutofit/>
          </a:bodyPr>
          <a:lstStyle/>
          <a:p>
            <a:pPr marL="0" indent="0">
              <a:buNone/>
            </a:pPr>
            <a:r>
              <a:rPr lang="en-PH" sz="1600" dirty="0">
                <a:latin typeface="Tw Cen MT" panose="020B0602020104020603" pitchFamily="34" charset="0"/>
              </a:rPr>
              <a:t>[1] Soriano, M. (2023). </a:t>
            </a:r>
            <a:r>
              <a:rPr lang="en-US" sz="1600" dirty="0">
                <a:latin typeface="Tw Cen MT" panose="020B0602020104020603" pitchFamily="34" charset="0"/>
              </a:rPr>
              <a:t>Feature Extraction from Labeled Blobs. App Physics 157. National Institute of Physics, UP- Diliman. </a:t>
            </a:r>
          </a:p>
          <a:p>
            <a:pPr marL="0" indent="0">
              <a:buNone/>
            </a:pPr>
            <a:r>
              <a:rPr lang="en-US" sz="1600" dirty="0">
                <a:latin typeface="Tw Cen MT" panose="020B0602020104020603" pitchFamily="34" charset="0"/>
              </a:rPr>
              <a:t>[2] Scikit-Image documentation: https://scikit-image.org/docs/stable/api/skimage.measure.html</a:t>
            </a:r>
          </a:p>
          <a:p>
            <a:pPr marL="0" indent="0">
              <a:buNone/>
            </a:pPr>
            <a:r>
              <a:rPr lang="en-US" sz="1600" dirty="0">
                <a:latin typeface="Tw Cen MT" panose="020B0602020104020603" pitchFamily="34" charset="0"/>
              </a:rPr>
              <a:t>[3] Manansala J. (2021). Image Processing with Python: Connected Components and Region Labeling. https://medium.com/swlh/image-processing-with-python-connected-components-and-region-labeling-3eef1864b951</a:t>
            </a: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6 </a:t>
            </a:r>
            <a:r>
              <a:rPr lang="en-PH" dirty="0"/>
              <a:t>of 6 </a:t>
            </a:r>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3A1268FA-2793-4E5E-9F51-6E6A33F062ED}"/>
              </a:ext>
            </a:extLst>
          </p:cNvPr>
          <p:cNvSpPr txBox="1">
            <a:spLocks/>
          </p:cNvSpPr>
          <p:nvPr/>
        </p:nvSpPr>
        <p:spPr>
          <a:xfrm>
            <a:off x="260180" y="4912675"/>
            <a:ext cx="1970260" cy="58109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PH" sz="2800" dirty="0">
                <a:latin typeface="Tw Cen MT" panose="020B0602020104020603" pitchFamily="34" charset="0"/>
              </a:rPr>
              <a:t>References </a:t>
            </a:r>
            <a:r>
              <a:rPr lang="en-PH" sz="3600" dirty="0">
                <a:latin typeface="Tw Cen MT" panose="020B0602020104020603" pitchFamily="34" charset="0"/>
              </a:rPr>
              <a:t> </a:t>
            </a:r>
          </a:p>
        </p:txBody>
      </p:sp>
      <p:sp>
        <p:nvSpPr>
          <p:cNvPr id="8" name="Content Placeholder 2">
            <a:extLst>
              <a:ext uri="{FF2B5EF4-FFF2-40B4-BE49-F238E27FC236}">
                <a16:creationId xmlns:a16="http://schemas.microsoft.com/office/drawing/2014/main" id="{896540D9-306C-40D0-A29B-AA7B7B86AB9C}"/>
              </a:ext>
            </a:extLst>
          </p:cNvPr>
          <p:cNvSpPr txBox="1">
            <a:spLocks/>
          </p:cNvSpPr>
          <p:nvPr/>
        </p:nvSpPr>
        <p:spPr>
          <a:xfrm>
            <a:off x="353290" y="1202494"/>
            <a:ext cx="11347188" cy="10158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PH" sz="1600" dirty="0">
                <a:latin typeface="Tw Cen MT" panose="020B0602020104020603" pitchFamily="34" charset="0"/>
              </a:rPr>
              <a:t>In order to conduct blob analysis, one needs competencies in image segmentation and morphological operations</a:t>
            </a:r>
          </a:p>
          <a:p>
            <a:pPr algn="just"/>
            <a:r>
              <a:rPr lang="en-PH" sz="1600" dirty="0">
                <a:latin typeface="Tw Cen MT" panose="020B0602020104020603" pitchFamily="34" charset="0"/>
              </a:rPr>
              <a:t>The labeling and extraction of blob features can be done in Python with the </a:t>
            </a:r>
            <a:r>
              <a:rPr lang="en-PH" sz="1600" dirty="0" err="1">
                <a:latin typeface="Tw Cen MT" panose="020B0602020104020603" pitchFamily="34" charset="0"/>
              </a:rPr>
              <a:t>skimage</a:t>
            </a:r>
            <a:r>
              <a:rPr lang="en-PH" sz="1600" dirty="0">
                <a:latin typeface="Tw Cen MT" panose="020B0602020104020603" pitchFamily="34" charset="0"/>
              </a:rPr>
              <a:t> module. </a:t>
            </a:r>
          </a:p>
        </p:txBody>
      </p:sp>
      <p:sp>
        <p:nvSpPr>
          <p:cNvPr id="10" name="Title 1">
            <a:extLst>
              <a:ext uri="{FF2B5EF4-FFF2-40B4-BE49-F238E27FC236}">
                <a16:creationId xmlns:a16="http://schemas.microsoft.com/office/drawing/2014/main" id="{03708C6C-F341-46C2-B917-893D7C54C3CA}"/>
              </a:ext>
            </a:extLst>
          </p:cNvPr>
          <p:cNvSpPr txBox="1">
            <a:spLocks/>
          </p:cNvSpPr>
          <p:nvPr/>
        </p:nvSpPr>
        <p:spPr>
          <a:xfrm>
            <a:off x="260180" y="1856383"/>
            <a:ext cx="3024619" cy="7375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PH" sz="3600" dirty="0">
                <a:latin typeface="Tw Cen MT" panose="020B0602020104020603" pitchFamily="34" charset="0"/>
              </a:rPr>
              <a:t>Reflection</a:t>
            </a:r>
            <a:endParaRPr lang="en-PH" dirty="0">
              <a:latin typeface="Tw Cen MT" panose="020B0602020104020603" pitchFamily="34" charset="0"/>
            </a:endParaRPr>
          </a:p>
        </p:txBody>
      </p:sp>
      <p:sp>
        <p:nvSpPr>
          <p:cNvPr id="11" name="Content Placeholder 2">
            <a:extLst>
              <a:ext uri="{FF2B5EF4-FFF2-40B4-BE49-F238E27FC236}">
                <a16:creationId xmlns:a16="http://schemas.microsoft.com/office/drawing/2014/main" id="{5A33D309-2E80-4384-8BF1-EFBD662F1A81}"/>
              </a:ext>
            </a:extLst>
          </p:cNvPr>
          <p:cNvSpPr txBox="1">
            <a:spLocks/>
          </p:cNvSpPr>
          <p:nvPr/>
        </p:nvSpPr>
        <p:spPr>
          <a:xfrm>
            <a:off x="2649681" y="2587063"/>
            <a:ext cx="9050797" cy="12220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PH" sz="1600" b="1" dirty="0">
              <a:latin typeface="Tw Cen MT" panose="020B0602020104020603" pitchFamily="34" charset="0"/>
            </a:endParaRPr>
          </a:p>
        </p:txBody>
      </p:sp>
      <p:sp>
        <p:nvSpPr>
          <p:cNvPr id="12" name="TextBox 11">
            <a:extLst>
              <a:ext uri="{FF2B5EF4-FFF2-40B4-BE49-F238E27FC236}">
                <a16:creationId xmlns:a16="http://schemas.microsoft.com/office/drawing/2014/main" id="{24140131-2295-442E-8C7E-0477C154095B}"/>
              </a:ext>
            </a:extLst>
          </p:cNvPr>
          <p:cNvSpPr txBox="1"/>
          <p:nvPr/>
        </p:nvSpPr>
        <p:spPr>
          <a:xfrm>
            <a:off x="278620" y="2460663"/>
            <a:ext cx="11439873" cy="2585323"/>
          </a:xfrm>
          <a:prstGeom prst="rect">
            <a:avLst/>
          </a:prstGeom>
          <a:noFill/>
        </p:spPr>
        <p:txBody>
          <a:bodyPr wrap="square">
            <a:spAutoFit/>
          </a:bodyPr>
          <a:lstStyle/>
          <a:p>
            <a:pPr marL="0" indent="0" algn="just">
              <a:buFont typeface="Arial" panose="020B0604020202020204" pitchFamily="34" charset="0"/>
              <a:buNone/>
            </a:pPr>
            <a:r>
              <a:rPr lang="en-PH" dirty="0">
                <a:latin typeface="Tw Cen MT" panose="020B0602020104020603" pitchFamily="34" charset="0"/>
              </a:rPr>
              <a:t>As I see it, this module presents us with the methods to prepare data sets in order to train basic machine learning models – especially classifiers. The ability to segment and label objects in an image along with measuring their properties with an automated script is a very useful tool when dealing with hundreds of images. I was also able to apply concepts I learned in Physics 191 (Experimental Physics 1) given the data extracted from the blobs. This activity has very wide applications, and so I was quite interested while doing it. </a:t>
            </a:r>
          </a:p>
          <a:p>
            <a:pPr marL="0" indent="0" algn="just">
              <a:buFont typeface="Arial" panose="020B0604020202020204" pitchFamily="34" charset="0"/>
              <a:buNone/>
            </a:pPr>
            <a:endParaRPr lang="en-PH" dirty="0">
              <a:latin typeface="Tw Cen MT" panose="020B0602020104020603" pitchFamily="34" charset="0"/>
            </a:endParaRPr>
          </a:p>
          <a:p>
            <a:pPr marL="0" indent="0" algn="just">
              <a:buFont typeface="Arial" panose="020B0604020202020204" pitchFamily="34" charset="0"/>
              <a:buNone/>
            </a:pPr>
            <a:r>
              <a:rPr lang="en-PH" dirty="0">
                <a:latin typeface="Tw Cen MT" panose="020B0602020104020603" pitchFamily="34" charset="0"/>
              </a:rPr>
              <a:t>I did all necessary tasks and did more by more than what was stated in the module. I also had to learn how to implement masks and how they interact with </a:t>
            </a:r>
            <a:r>
              <a:rPr lang="en-PH" dirty="0" err="1">
                <a:latin typeface="Tw Cen MT" panose="020B0602020104020603" pitchFamily="34" charset="0"/>
              </a:rPr>
              <a:t>dataframes</a:t>
            </a:r>
            <a:r>
              <a:rPr lang="en-PH" dirty="0">
                <a:latin typeface="Tw Cen MT" panose="020B0602020104020603" pitchFamily="34" charset="0"/>
              </a:rPr>
              <a:t>, which took quite a bit of time. </a:t>
            </a:r>
            <a:r>
              <a:rPr lang="en-PH" b="1" dirty="0">
                <a:latin typeface="Tw Cen MT" panose="020B0602020104020603" pitchFamily="34" charset="0"/>
              </a:rPr>
              <a:t>Hence,</a:t>
            </a:r>
            <a:r>
              <a:rPr lang="en-PH" dirty="0">
                <a:latin typeface="Tw Cen MT" panose="020B0602020104020603" pitchFamily="34" charset="0"/>
              </a:rPr>
              <a:t> I think I deserve a 100/100 and any bonus points the instructor deems necessary! </a:t>
            </a:r>
          </a:p>
        </p:txBody>
      </p:sp>
    </p:spTree>
    <p:extLst>
      <p:ext uri="{BB962C8B-B14F-4D97-AF65-F5344CB8AC3E}">
        <p14:creationId xmlns:p14="http://schemas.microsoft.com/office/powerpoint/2010/main" val="23945748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2250</TotalTime>
  <Words>1149</Words>
  <Application>Microsoft Office PowerPoint</Application>
  <PresentationFormat>Widescreen</PresentationFormat>
  <Paragraphs>60</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Tw Cen MT</vt:lpstr>
      <vt:lpstr>Wingdings</vt:lpstr>
      <vt:lpstr>Office Theme</vt:lpstr>
      <vt:lpstr> Feature Extraction from Labeled Blobs</vt:lpstr>
      <vt:lpstr>Objectives </vt:lpstr>
      <vt:lpstr> </vt:lpstr>
      <vt:lpstr> </vt:lpstr>
      <vt:lpstr> </vt:lpstr>
      <vt:lpstr>Key Takeaways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Fourier Transform Model of Image Formation (I of II)</dc:title>
  <dc:creator>Edneil</dc:creator>
  <cp:lastModifiedBy>Edneil</cp:lastModifiedBy>
  <cp:revision>142</cp:revision>
  <dcterms:created xsi:type="dcterms:W3CDTF">2023-03-24T05:11:34Z</dcterms:created>
  <dcterms:modified xsi:type="dcterms:W3CDTF">2023-05-26T08:45:03Z</dcterms:modified>
</cp:coreProperties>
</file>