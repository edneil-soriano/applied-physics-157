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8" r:id="rId3"/>
    <p:sldId id="263" r:id="rId4"/>
    <p:sldId id="281" r:id="rId5"/>
    <p:sldId id="283" r:id="rId6"/>
    <p:sldId id="28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9" autoAdjust="0"/>
    <p:restoredTop sz="94660"/>
  </p:normalViewPr>
  <p:slideViewPr>
    <p:cSldViewPr snapToGrid="0">
      <p:cViewPr>
        <p:scale>
          <a:sx n="68" d="100"/>
          <a:sy n="68" d="100"/>
        </p:scale>
        <p:origin x="298" y="26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FCC7-BE5F-4E2F-A0B7-89DECF22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8744C309-A916-4846-BF9D-4EDBAAA495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E4632129-96B2-4ED4-8A5A-5A99570B8941}"/>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D2EBE942-42DE-4CD9-9E46-4B0B6866B45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3CDCE3-CEEA-4493-AFEE-20E99B0C23FF}"/>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5631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C1B5-5E3B-4598-A025-33E5632AD4B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23943F4-7D93-4DF4-838D-13367FC85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DC44767-7780-4C67-89B4-4FC910F7B027}"/>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BC5A2813-7991-43DB-BCBD-A3E23FBF256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1786C29-3B5C-4959-9A98-488A0F87F61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00917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894E-6117-472B-886A-AC8C6ABE9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1F91B21-484A-4C7C-9A75-733E8CADC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E30143-48B9-42B7-8335-617D2EABE03F}"/>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5D3DFC52-7018-490A-B05F-C8A8F8B3396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294C306-547E-4AB1-AFFD-0CC5BA1D6CB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67223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0F1F-6B34-41D7-80B1-7C4D5F6B3B9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BF89DC8-6118-44C1-A83B-12B0FB87C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5C74E02-5B39-44B7-BF42-CA661ABA3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0EC9E85-F74D-4F6D-8353-92B550C44CA7}"/>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6" name="Footer Placeholder 5">
            <a:extLst>
              <a:ext uri="{FF2B5EF4-FFF2-40B4-BE49-F238E27FC236}">
                <a16:creationId xmlns:a16="http://schemas.microsoft.com/office/drawing/2014/main" id="{FE5F0AA8-1437-444C-A2A5-3D4C1731845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2F9C306-629D-4883-B159-6675AFE9304B}"/>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404701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1A94-69F1-452A-8BF8-80C22128D19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D8836C0-0CCA-4F6D-A84F-E508695DF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6B4B6B-00DE-4593-98EF-0A2C0571C0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7B95F0F-FF08-47C0-8062-C5BBA5D82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C09CA-688E-464F-9D87-35D584FDA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0BB9FFA-6C7E-4F8E-8A6B-A748036A73C5}"/>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8" name="Footer Placeholder 7">
            <a:extLst>
              <a:ext uri="{FF2B5EF4-FFF2-40B4-BE49-F238E27FC236}">
                <a16:creationId xmlns:a16="http://schemas.microsoft.com/office/drawing/2014/main" id="{6C7BDDC4-AB18-4DE4-B9F2-6EA962B6FD2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6F4FFF1B-5263-45E8-8D35-DF01D094765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94091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9336-79C2-4952-B3CC-990C074CEF2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9746F42-0252-40AC-9333-3B14EFDEAA73}"/>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4" name="Footer Placeholder 3">
            <a:extLst>
              <a:ext uri="{FF2B5EF4-FFF2-40B4-BE49-F238E27FC236}">
                <a16:creationId xmlns:a16="http://schemas.microsoft.com/office/drawing/2014/main" id="{0A694981-C388-4F64-B1A9-4B44A3C1942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C97EE654-8BEB-4E16-8FA7-27D932905C3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91906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9F423-6286-42DC-AE0C-1B646E88089D}"/>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3" name="Footer Placeholder 2">
            <a:extLst>
              <a:ext uri="{FF2B5EF4-FFF2-40B4-BE49-F238E27FC236}">
                <a16:creationId xmlns:a16="http://schemas.microsoft.com/office/drawing/2014/main" id="{5D88A1AC-3CF4-483C-BDFF-874F1285C31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CD26E431-3330-42D8-8DA0-36A33C446FE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909480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BC77-32DC-4049-B57A-834DBACE0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EFBA4C1-3319-4636-A8FC-D88F831BF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ADA55DD-7568-42EB-865F-8A2143AC7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D6F4-62BD-4C72-B587-6D5C04579A55}"/>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6" name="Footer Placeholder 5">
            <a:extLst>
              <a:ext uri="{FF2B5EF4-FFF2-40B4-BE49-F238E27FC236}">
                <a16:creationId xmlns:a16="http://schemas.microsoft.com/office/drawing/2014/main" id="{CDBF507C-D4A8-4DD0-B48A-416A8447757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B7B2E0-9CFD-48B1-AAE8-5848E15BDFE0}"/>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96970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98A6-39B2-4329-B998-7A53DA5B9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8D04EC8-6E45-4C0B-8925-69D9399B9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A86DD187-F19F-478D-9B47-7629F14EA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A553B0-DDE6-4A7B-849A-8D0673C137C5}"/>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6" name="Footer Placeholder 5">
            <a:extLst>
              <a:ext uri="{FF2B5EF4-FFF2-40B4-BE49-F238E27FC236}">
                <a16:creationId xmlns:a16="http://schemas.microsoft.com/office/drawing/2014/main" id="{91FF5786-E11D-4B59-8DAB-85F4DF3FF41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ACB1A49-6373-41F7-8F4C-4E0308856031}"/>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78390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B83C-57AE-4751-96C6-16424610E51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61B553E-1ACE-4A3B-BD5C-3A2C37E1B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BD8F971-679C-468D-B185-7D637C31A1C3}"/>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0C855149-EA4B-48E9-B518-08311FF067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7FD8DFE-7267-4024-9134-7AF0CE17874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1098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49258-7DC3-4369-9526-067BE43E4C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5D5D3EC-4037-41ED-AFD7-9302126008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E4FF1FE-3B3B-4F0A-A874-EE2B0C01A16D}"/>
              </a:ext>
            </a:extLst>
          </p:cNvPr>
          <p:cNvSpPr>
            <a:spLocks noGrp="1"/>
          </p:cNvSpPr>
          <p:nvPr>
            <p:ph type="dt" sz="half" idx="10"/>
          </p:nvPr>
        </p:nvSpPr>
        <p:spPr/>
        <p:txBody>
          <a:body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09BF3365-C142-4C74-8862-3FF42B4BE6C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07E5A64-3DCD-4A24-9AE7-23CE8E2689DD}"/>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7169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2CB27-B344-49D4-9EEA-16971D37B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EE9FC1B-F001-4ECD-9F6A-9CF05991F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38A6C71-2C0F-41D8-ADA1-450E4F5D9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341C1-FD81-48EA-B020-1DD5EF3E31FB}" type="datetimeFigureOut">
              <a:rPr lang="en-PH" smtClean="0"/>
              <a:t>01/07/2023</a:t>
            </a:fld>
            <a:endParaRPr lang="en-PH"/>
          </a:p>
        </p:txBody>
      </p:sp>
      <p:sp>
        <p:nvSpPr>
          <p:cNvPr id="5" name="Footer Placeholder 4">
            <a:extLst>
              <a:ext uri="{FF2B5EF4-FFF2-40B4-BE49-F238E27FC236}">
                <a16:creationId xmlns:a16="http://schemas.microsoft.com/office/drawing/2014/main" id="{7A8E3990-3812-4940-B5CA-3800964D4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98097B16-282F-45E7-BB1C-80A9AFC2A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1F782-C553-4B23-9D38-A3AB8A18CB25}" type="slidenum">
              <a:rPr lang="en-PH" smtClean="0"/>
              <a:t>‹#›</a:t>
            </a:fld>
            <a:endParaRPr lang="en-PH"/>
          </a:p>
        </p:txBody>
      </p:sp>
    </p:spTree>
    <p:extLst>
      <p:ext uri="{BB962C8B-B14F-4D97-AF65-F5344CB8AC3E}">
        <p14:creationId xmlns:p14="http://schemas.microsoft.com/office/powerpoint/2010/main" val="4013798314"/>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networkatlas.e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C6B2F-1774-4756-BBB9-C09E9C0BB963}"/>
              </a:ext>
            </a:extLst>
          </p:cNvPr>
          <p:cNvSpPr>
            <a:spLocks noGrp="1"/>
          </p:cNvSpPr>
          <p:nvPr>
            <p:ph type="ctrTitle"/>
          </p:nvPr>
        </p:nvSpPr>
        <p:spPr>
          <a:xfrm>
            <a:off x="7160626" y="2673339"/>
            <a:ext cx="5191433" cy="1383928"/>
          </a:xfrm>
        </p:spPr>
        <p:txBody>
          <a:bodyPr>
            <a:noAutofit/>
          </a:bodyPr>
          <a:lstStyle/>
          <a:p>
            <a:br>
              <a:rPr lang="en-PH" sz="3600" b="1" dirty="0">
                <a:latin typeface="Tw Cen MT" panose="020B0602020104020603" pitchFamily="34" charset="0"/>
              </a:rPr>
            </a:br>
            <a:r>
              <a:rPr lang="en-PH" sz="4000" b="1" dirty="0">
                <a:latin typeface="Tw Cen MT" panose="020B0602020104020603" pitchFamily="34" charset="0"/>
              </a:rPr>
              <a:t>Introduction to Networks</a:t>
            </a:r>
            <a:endParaRPr lang="en-PH" sz="3600" b="1" dirty="0">
              <a:latin typeface="Tw Cen MT" panose="020B0602020104020603" pitchFamily="34" charset="0"/>
            </a:endParaRPr>
          </a:p>
        </p:txBody>
      </p:sp>
      <p:sp>
        <p:nvSpPr>
          <p:cNvPr id="3" name="Subtitle 2">
            <a:extLst>
              <a:ext uri="{FF2B5EF4-FFF2-40B4-BE49-F238E27FC236}">
                <a16:creationId xmlns:a16="http://schemas.microsoft.com/office/drawing/2014/main" id="{BEC08A26-8F90-4FB3-9B52-739E658827FC}"/>
              </a:ext>
            </a:extLst>
          </p:cNvPr>
          <p:cNvSpPr>
            <a:spLocks noGrp="1"/>
          </p:cNvSpPr>
          <p:nvPr>
            <p:ph type="subTitle" idx="1"/>
          </p:nvPr>
        </p:nvSpPr>
        <p:spPr>
          <a:xfrm>
            <a:off x="5896303" y="6223210"/>
            <a:ext cx="6295697" cy="1269580"/>
          </a:xfrm>
        </p:spPr>
        <p:txBody>
          <a:bodyPr>
            <a:normAutofit/>
          </a:bodyPr>
          <a:lstStyle/>
          <a:p>
            <a:pPr algn="r"/>
            <a:r>
              <a:rPr lang="en-PH" sz="1600" dirty="0">
                <a:latin typeface="Tw Cen MT" panose="020B0602020104020603" pitchFamily="34" charset="0"/>
              </a:rPr>
              <a:t>Presented by </a:t>
            </a:r>
            <a:r>
              <a:rPr lang="en-PH" sz="1600" b="1" dirty="0">
                <a:latin typeface="Tw Cen MT" panose="020B0602020104020603" pitchFamily="34" charset="0"/>
              </a:rPr>
              <a:t>Soriano, Edneil E. Jr. </a:t>
            </a:r>
          </a:p>
          <a:p>
            <a:pPr algn="r"/>
            <a:r>
              <a:rPr lang="en-PH" sz="1600" dirty="0">
                <a:latin typeface="Tw Cen MT" panose="020B0602020104020603" pitchFamily="34" charset="0"/>
              </a:rPr>
              <a:t>S.N. </a:t>
            </a:r>
            <a:r>
              <a:rPr lang="en-PH" sz="1600" b="1" dirty="0">
                <a:latin typeface="Tw Cen MT" panose="020B0602020104020603" pitchFamily="34" charset="0"/>
              </a:rPr>
              <a:t>202002420 </a:t>
            </a:r>
          </a:p>
        </p:txBody>
      </p:sp>
      <p:cxnSp>
        <p:nvCxnSpPr>
          <p:cNvPr id="5" name="Straight Connector 4">
            <a:extLst>
              <a:ext uri="{FF2B5EF4-FFF2-40B4-BE49-F238E27FC236}">
                <a16:creationId xmlns:a16="http://schemas.microsoft.com/office/drawing/2014/main" id="{BD2C88DF-D94F-422C-8AA1-64E77A418DFA}"/>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0D5201B6-FAA6-48E5-83E6-0B3F73A5D4B3}"/>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1 </a:t>
            </a:r>
            <a:r>
              <a:rPr lang="en-PH" dirty="0"/>
              <a:t>of 7 </a:t>
            </a:r>
            <a:endParaRPr lang="en-PH" b="1" dirty="0"/>
          </a:p>
        </p:txBody>
      </p:sp>
      <p:pic>
        <p:nvPicPr>
          <p:cNvPr id="4" name="Picture 6">
            <a:extLst>
              <a:ext uri="{FF2B5EF4-FFF2-40B4-BE49-F238E27FC236}">
                <a16:creationId xmlns:a16="http://schemas.microsoft.com/office/drawing/2014/main" id="{548EB92A-C006-408A-8F8A-EFF57DF9F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45" y="796602"/>
            <a:ext cx="3902275" cy="27823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a:extLst>
              <a:ext uri="{FF2B5EF4-FFF2-40B4-BE49-F238E27FC236}">
                <a16:creationId xmlns:a16="http://schemas.microsoft.com/office/drawing/2014/main" id="{F0B85FA7-FB76-4555-B551-C29BDFF67B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809" y="820276"/>
            <a:ext cx="3902270" cy="27823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a:extLst>
              <a:ext uri="{FF2B5EF4-FFF2-40B4-BE49-F238E27FC236}">
                <a16:creationId xmlns:a16="http://schemas.microsoft.com/office/drawing/2014/main" id="{DF23C126-39B8-417D-B88F-F45FC9EEC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238" y="3576293"/>
            <a:ext cx="3657179" cy="260758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9C460F04-9EAF-47DE-9BB1-30DF3A107A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5043" y="3722349"/>
            <a:ext cx="2812735" cy="261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70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41739" y="365125"/>
            <a:ext cx="11112061" cy="1325563"/>
          </a:xfrm>
        </p:spPr>
        <p:txBody>
          <a:bodyPr/>
          <a:lstStyle/>
          <a:p>
            <a:r>
              <a:rPr lang="en-PH" dirty="0">
                <a:latin typeface="Tw Cen MT" panose="020B0602020104020603" pitchFamily="34" charset="0"/>
              </a:rPr>
              <a:t>Objectives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534713" y="1730017"/>
            <a:ext cx="11027979" cy="4317639"/>
          </a:xfrm>
        </p:spPr>
        <p:txBody>
          <a:bodyPr>
            <a:normAutofit/>
          </a:bodyPr>
          <a:lstStyle/>
          <a:p>
            <a:pPr algn="just">
              <a:buFont typeface="Wingdings" panose="05000000000000000000" pitchFamily="2" charset="2"/>
              <a:buChar char="§"/>
            </a:pPr>
            <a:r>
              <a:rPr lang="en-PH" sz="3200" dirty="0">
                <a:latin typeface="Tw Cen MT" panose="020B0602020104020603" pitchFamily="34" charset="0"/>
              </a:rPr>
              <a:t>To create simple graphs and determine when the model might be useful</a:t>
            </a:r>
          </a:p>
          <a:p>
            <a:pPr algn="just">
              <a:buFont typeface="Wingdings" panose="05000000000000000000" pitchFamily="2" charset="2"/>
              <a:buChar char="§"/>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determine the degree distribution of a graph, and enumerate other properties of interest</a:t>
            </a:r>
          </a:p>
          <a:p>
            <a:pPr marL="0" indent="0" algn="just">
              <a:buNone/>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calculate the adjacency matrix of a graph and explain its properties</a:t>
            </a: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2 </a:t>
            </a:r>
            <a:r>
              <a:rPr lang="en-PH" dirty="0"/>
              <a:t>of 7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710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3 </a:t>
            </a:r>
            <a:r>
              <a:rPr lang="en-PH" dirty="0"/>
              <a:t>of 7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10655325" cy="646331"/>
          </a:xfrm>
          <a:prstGeom prst="rect">
            <a:avLst/>
          </a:prstGeom>
          <a:noFill/>
        </p:spPr>
        <p:txBody>
          <a:bodyPr wrap="square">
            <a:spAutoFit/>
          </a:bodyPr>
          <a:lstStyle/>
          <a:p>
            <a:r>
              <a:rPr lang="en-PH" sz="3600" dirty="0">
                <a:latin typeface="Tw Cen MT" panose="020B0602020104020603" pitchFamily="34" charset="0"/>
              </a:rPr>
              <a:t>Network Types</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3" y="1125876"/>
            <a:ext cx="5825739" cy="2031325"/>
          </a:xfrm>
          <a:prstGeom prst="rect">
            <a:avLst/>
          </a:prstGeom>
          <a:noFill/>
        </p:spPr>
        <p:txBody>
          <a:bodyPr wrap="square">
            <a:spAutoFit/>
          </a:bodyPr>
          <a:lstStyle/>
          <a:p>
            <a:pPr algn="just"/>
            <a:r>
              <a:rPr lang="en-PH" dirty="0">
                <a:latin typeface="Tw Cen MT" panose="020B0602020104020603" pitchFamily="34" charset="0"/>
              </a:rPr>
              <a:t>All parts of the universe are interconnected in one way or another – networks are everywhere and so the tools we use to manipulate and study them are of utmost importance. To begin our study of complex networks, we first create two simple graphs using Python’s </a:t>
            </a:r>
            <a:r>
              <a:rPr lang="en-PH" b="1" dirty="0" err="1">
                <a:latin typeface="Tw Cen MT" panose="020B0602020104020603" pitchFamily="34" charset="0"/>
              </a:rPr>
              <a:t>NetworkX</a:t>
            </a:r>
            <a:r>
              <a:rPr lang="en-PH" dirty="0">
                <a:latin typeface="Tw Cen MT" panose="020B0602020104020603" pitchFamily="34" charset="0"/>
              </a:rPr>
              <a:t> library. </a:t>
            </a:r>
            <a:r>
              <a:rPr lang="en-PH" b="1" dirty="0">
                <a:latin typeface="Tw Cen MT" panose="020B0602020104020603" pitchFamily="34" charset="0"/>
              </a:rPr>
              <a:t>First, we create a simple graph, directed, and a weighted graph. </a:t>
            </a:r>
          </a:p>
          <a:p>
            <a:pPr algn="just"/>
            <a:endParaRPr lang="en-PH" dirty="0">
              <a:latin typeface="Tw Cen MT" panose="020B0602020104020603" pitchFamily="34" charset="0"/>
            </a:endParaRPr>
          </a:p>
        </p:txBody>
      </p:sp>
      <p:sp>
        <p:nvSpPr>
          <p:cNvPr id="13" name="TextBox 12">
            <a:extLst>
              <a:ext uri="{FF2B5EF4-FFF2-40B4-BE49-F238E27FC236}">
                <a16:creationId xmlns:a16="http://schemas.microsoft.com/office/drawing/2014/main" id="{1CB2F6CF-FD57-4587-BA7E-5E4B573A9924}"/>
              </a:ext>
            </a:extLst>
          </p:cNvPr>
          <p:cNvSpPr txBox="1"/>
          <p:nvPr/>
        </p:nvSpPr>
        <p:spPr>
          <a:xfrm>
            <a:off x="-54487" y="5132654"/>
            <a:ext cx="6228997" cy="338554"/>
          </a:xfrm>
          <a:prstGeom prst="rect">
            <a:avLst/>
          </a:prstGeom>
          <a:noFill/>
        </p:spPr>
        <p:txBody>
          <a:bodyPr wrap="square">
            <a:spAutoFit/>
          </a:bodyPr>
          <a:lstStyle/>
          <a:p>
            <a:pPr algn="ctr"/>
            <a:r>
              <a:rPr lang="en-US" sz="1600" dirty="0">
                <a:latin typeface="Tw Cen MT" panose="020B0602020104020603" pitchFamily="34" charset="0"/>
              </a:rPr>
              <a:t>Fig 1.  A simple graph with 4 nodes V (stands for vertices), and 4 edges E</a:t>
            </a:r>
            <a:endParaRPr lang="en-PH" sz="800" b="1" dirty="0">
              <a:solidFill>
                <a:schemeClr val="accent1"/>
              </a:solidFill>
              <a:latin typeface="Tw Cen MT" panose="020B0602020104020603" pitchFamily="34" charset="0"/>
            </a:endParaRPr>
          </a:p>
        </p:txBody>
      </p:sp>
      <p:pic>
        <p:nvPicPr>
          <p:cNvPr id="2050" name="Picture 2">
            <a:extLst>
              <a:ext uri="{FF2B5EF4-FFF2-40B4-BE49-F238E27FC236}">
                <a16:creationId xmlns:a16="http://schemas.microsoft.com/office/drawing/2014/main" id="{0305B98D-DBD2-4A22-9501-ADA502A5AD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650" y="2879044"/>
            <a:ext cx="3160724" cy="225361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EFDFAA1-548C-4ADF-A3A7-B471D71C3B79}"/>
              </a:ext>
            </a:extLst>
          </p:cNvPr>
          <p:cNvSpPr txBox="1"/>
          <p:nvPr/>
        </p:nvSpPr>
        <p:spPr>
          <a:xfrm>
            <a:off x="147141" y="5529691"/>
            <a:ext cx="5825739" cy="1200329"/>
          </a:xfrm>
          <a:prstGeom prst="rect">
            <a:avLst/>
          </a:prstGeom>
          <a:noFill/>
        </p:spPr>
        <p:txBody>
          <a:bodyPr wrap="square">
            <a:spAutoFit/>
          </a:bodyPr>
          <a:lstStyle/>
          <a:p>
            <a:pPr algn="just"/>
            <a:r>
              <a:rPr lang="en-PH" b="1" dirty="0">
                <a:latin typeface="Tw Cen MT" panose="020B0602020104020603" pitchFamily="34" charset="0"/>
              </a:rPr>
              <a:t>A simple graph is characterized by nodes V, connected by reciprocal edges E. It just means </a:t>
            </a:r>
            <a:r>
              <a:rPr lang="en-PH" b="1" i="1" dirty="0">
                <a:latin typeface="Tw Cen MT" panose="020B0602020104020603" pitchFamily="34" charset="0"/>
              </a:rPr>
              <a:t>simple</a:t>
            </a:r>
            <a:r>
              <a:rPr lang="en-PH" b="1" dirty="0">
                <a:latin typeface="Tw Cen MT" panose="020B0602020104020603" pitchFamily="34" charset="0"/>
              </a:rPr>
              <a:t>, nothing more than connected vertices. </a:t>
            </a:r>
            <a:r>
              <a:rPr lang="en-PH" dirty="0">
                <a:latin typeface="Tw Cen MT" panose="020B0602020104020603" pitchFamily="34" charset="0"/>
              </a:rPr>
              <a:t>We usually denote graphs as G(V, E). Even with the simplicity of simple graphs, it’s still powerful!</a:t>
            </a:r>
          </a:p>
        </p:txBody>
      </p:sp>
      <p:sp>
        <p:nvSpPr>
          <p:cNvPr id="23" name="TextBox 22">
            <a:extLst>
              <a:ext uri="{FF2B5EF4-FFF2-40B4-BE49-F238E27FC236}">
                <a16:creationId xmlns:a16="http://schemas.microsoft.com/office/drawing/2014/main" id="{648A042D-1BF4-4A91-B8DC-69393CE0F5A9}"/>
              </a:ext>
            </a:extLst>
          </p:cNvPr>
          <p:cNvSpPr txBox="1"/>
          <p:nvPr/>
        </p:nvSpPr>
        <p:spPr>
          <a:xfrm>
            <a:off x="6056330" y="3429000"/>
            <a:ext cx="5854261" cy="307777"/>
          </a:xfrm>
          <a:prstGeom prst="rect">
            <a:avLst/>
          </a:prstGeom>
          <a:noFill/>
        </p:spPr>
        <p:txBody>
          <a:bodyPr wrap="square">
            <a:spAutoFit/>
          </a:bodyPr>
          <a:lstStyle/>
          <a:p>
            <a:pPr algn="ctr"/>
            <a:r>
              <a:rPr lang="en-US" sz="1400" dirty="0">
                <a:latin typeface="Tw Cen MT" panose="020B0602020104020603" pitchFamily="34" charset="0"/>
              </a:rPr>
              <a:t>Fig 2.  A directed graph with |V| = 3, </a:t>
            </a:r>
            <a:r>
              <a:rPr lang="en-US" sz="1400" dirty="0" err="1">
                <a:latin typeface="Tw Cen MT" panose="020B0602020104020603" pitchFamily="34" charset="0"/>
              </a:rPr>
              <a:t>and|E</a:t>
            </a:r>
            <a:r>
              <a:rPr lang="en-US" sz="1400" dirty="0">
                <a:latin typeface="Tw Cen MT" panose="020B0602020104020603" pitchFamily="34" charset="0"/>
              </a:rPr>
              <a:t>| = 4 </a:t>
            </a:r>
            <a:endParaRPr lang="en-PH" sz="700" b="1" dirty="0">
              <a:solidFill>
                <a:schemeClr val="accent1"/>
              </a:solidFill>
              <a:latin typeface="Tw Cen MT" panose="020B0602020104020603" pitchFamily="34" charset="0"/>
            </a:endParaRPr>
          </a:p>
        </p:txBody>
      </p:sp>
      <p:pic>
        <p:nvPicPr>
          <p:cNvPr id="2054" name="Picture 6">
            <a:extLst>
              <a:ext uri="{FF2B5EF4-FFF2-40B4-BE49-F238E27FC236}">
                <a16:creationId xmlns:a16="http://schemas.microsoft.com/office/drawing/2014/main" id="{7CF620E1-DE25-4AD9-877F-BF2869F2A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4186" y="1465723"/>
            <a:ext cx="2848966" cy="2031325"/>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53624846-CE13-47FF-A4F3-A90CB58D1DD7}"/>
              </a:ext>
            </a:extLst>
          </p:cNvPr>
          <p:cNvSpPr txBox="1"/>
          <p:nvPr/>
        </p:nvSpPr>
        <p:spPr>
          <a:xfrm>
            <a:off x="6048703" y="605241"/>
            <a:ext cx="5977378" cy="1477328"/>
          </a:xfrm>
          <a:prstGeom prst="rect">
            <a:avLst/>
          </a:prstGeom>
          <a:noFill/>
        </p:spPr>
        <p:txBody>
          <a:bodyPr wrap="square">
            <a:spAutoFit/>
          </a:bodyPr>
          <a:lstStyle/>
          <a:p>
            <a:pPr algn="just"/>
            <a:r>
              <a:rPr lang="en-PH" b="1" dirty="0">
                <a:latin typeface="Tw Cen MT" panose="020B0602020104020603" pitchFamily="34" charset="0"/>
              </a:rPr>
              <a:t>A directed graph is different from a simple graph only in the lack of reciprocity in its edges</a:t>
            </a:r>
            <a:r>
              <a:rPr lang="en-PH" dirty="0">
                <a:latin typeface="Tw Cen MT" panose="020B0602020104020603" pitchFamily="34" charset="0"/>
              </a:rPr>
              <a:t>. This one way direction is usually denoted as an arrow. These graphs have a reverse graph.</a:t>
            </a:r>
            <a:endParaRPr lang="en-PH" b="1" dirty="0">
              <a:latin typeface="Tw Cen MT" panose="020B0602020104020603" pitchFamily="34" charset="0"/>
            </a:endParaRPr>
          </a:p>
          <a:p>
            <a:pPr algn="just"/>
            <a:endParaRPr lang="en-PH" dirty="0">
              <a:latin typeface="Tw Cen MT" panose="020B0602020104020603" pitchFamily="34" charset="0"/>
            </a:endParaRPr>
          </a:p>
        </p:txBody>
      </p:sp>
      <p:sp>
        <p:nvSpPr>
          <p:cNvPr id="25" name="TextBox 24">
            <a:extLst>
              <a:ext uri="{FF2B5EF4-FFF2-40B4-BE49-F238E27FC236}">
                <a16:creationId xmlns:a16="http://schemas.microsoft.com/office/drawing/2014/main" id="{10B5A7E9-7C4F-4541-95A3-650E5D0CA2D4}"/>
              </a:ext>
            </a:extLst>
          </p:cNvPr>
          <p:cNvSpPr txBox="1"/>
          <p:nvPr/>
        </p:nvSpPr>
        <p:spPr>
          <a:xfrm>
            <a:off x="5933213" y="3677836"/>
            <a:ext cx="5977378" cy="923330"/>
          </a:xfrm>
          <a:prstGeom prst="rect">
            <a:avLst/>
          </a:prstGeom>
          <a:noFill/>
        </p:spPr>
        <p:txBody>
          <a:bodyPr wrap="square">
            <a:spAutoFit/>
          </a:bodyPr>
          <a:lstStyle/>
          <a:p>
            <a:pPr algn="just"/>
            <a:r>
              <a:rPr lang="en-PH" b="1" dirty="0">
                <a:latin typeface="Tw Cen MT" panose="020B0602020104020603" pitchFamily="34" charset="0"/>
              </a:rPr>
              <a:t>A weighted graph has attached weights to each edge which can represent any information we want. </a:t>
            </a:r>
          </a:p>
          <a:p>
            <a:pPr algn="just"/>
            <a:endParaRPr lang="en-PH" dirty="0">
              <a:latin typeface="Tw Cen MT" panose="020B0602020104020603" pitchFamily="34" charset="0"/>
            </a:endParaRPr>
          </a:p>
        </p:txBody>
      </p:sp>
      <p:sp>
        <p:nvSpPr>
          <p:cNvPr id="26" name="TextBox 25">
            <a:extLst>
              <a:ext uri="{FF2B5EF4-FFF2-40B4-BE49-F238E27FC236}">
                <a16:creationId xmlns:a16="http://schemas.microsoft.com/office/drawing/2014/main" id="{3D648B03-14AC-4261-B8D0-3DF856956C25}"/>
              </a:ext>
            </a:extLst>
          </p:cNvPr>
          <p:cNvSpPr txBox="1"/>
          <p:nvPr/>
        </p:nvSpPr>
        <p:spPr>
          <a:xfrm>
            <a:off x="5807403" y="6576131"/>
            <a:ext cx="6228997" cy="307777"/>
          </a:xfrm>
          <a:prstGeom prst="rect">
            <a:avLst/>
          </a:prstGeom>
          <a:noFill/>
        </p:spPr>
        <p:txBody>
          <a:bodyPr wrap="square">
            <a:spAutoFit/>
          </a:bodyPr>
          <a:lstStyle/>
          <a:p>
            <a:pPr algn="ctr"/>
            <a:r>
              <a:rPr lang="en-US" sz="1400" dirty="0">
                <a:latin typeface="Tw Cen MT" panose="020B0602020104020603" pitchFamily="34" charset="0"/>
              </a:rPr>
              <a:t>Fig 3. A weighted network, with weights denoting hours of driving </a:t>
            </a:r>
            <a:endParaRPr lang="en-PH" sz="700" b="1" dirty="0">
              <a:solidFill>
                <a:schemeClr val="accent1"/>
              </a:solidFill>
              <a:latin typeface="Tw Cen MT" panose="020B0602020104020603" pitchFamily="34" charset="0"/>
            </a:endParaRPr>
          </a:p>
        </p:txBody>
      </p:sp>
      <p:pic>
        <p:nvPicPr>
          <p:cNvPr id="2061" name="Picture 13">
            <a:extLst>
              <a:ext uri="{FF2B5EF4-FFF2-40B4-BE49-F238E27FC236}">
                <a16:creationId xmlns:a16="http://schemas.microsoft.com/office/drawing/2014/main" id="{9A55005A-8D4D-41C6-B28A-816D2069E4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4186" y="4315928"/>
            <a:ext cx="3019193" cy="2152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16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4 </a:t>
            </a:r>
            <a:r>
              <a:rPr lang="en-PH" dirty="0"/>
              <a:t>of 7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7298683" cy="646331"/>
          </a:xfrm>
          <a:prstGeom prst="rect">
            <a:avLst/>
          </a:prstGeom>
          <a:noFill/>
        </p:spPr>
        <p:txBody>
          <a:bodyPr wrap="square">
            <a:spAutoFit/>
          </a:bodyPr>
          <a:lstStyle/>
          <a:p>
            <a:r>
              <a:rPr lang="en-PH" sz="3600" dirty="0">
                <a:latin typeface="Tw Cen MT" panose="020B0602020104020603" pitchFamily="34" charset="0"/>
              </a:rPr>
              <a:t>Other Types and Degree</a:t>
            </a:r>
            <a:endParaRPr lang="en-PH" sz="3600" dirty="0"/>
          </a:p>
        </p:txBody>
      </p:sp>
      <p:sp>
        <p:nvSpPr>
          <p:cNvPr id="17" name="TextBox 16">
            <a:extLst>
              <a:ext uri="{FF2B5EF4-FFF2-40B4-BE49-F238E27FC236}">
                <a16:creationId xmlns:a16="http://schemas.microsoft.com/office/drawing/2014/main" id="{CB6A6EE9-6944-4103-9E66-E801C33B01F2}"/>
              </a:ext>
            </a:extLst>
          </p:cNvPr>
          <p:cNvSpPr txBox="1"/>
          <p:nvPr/>
        </p:nvSpPr>
        <p:spPr>
          <a:xfrm>
            <a:off x="147144" y="1232386"/>
            <a:ext cx="6123026" cy="6247864"/>
          </a:xfrm>
          <a:prstGeom prst="rect">
            <a:avLst/>
          </a:prstGeom>
          <a:noFill/>
        </p:spPr>
        <p:txBody>
          <a:bodyPr wrap="square">
            <a:spAutoFit/>
          </a:bodyPr>
          <a:lstStyle/>
          <a:p>
            <a:pPr algn="just">
              <a:spcAft>
                <a:spcPts val="600"/>
              </a:spcAft>
            </a:pPr>
            <a:r>
              <a:rPr lang="en-PH" dirty="0">
                <a:latin typeface="Tw Cen MT" panose="020B0602020104020603" pitchFamily="34" charset="0"/>
              </a:rPr>
              <a:t>There are many other network types used in complexity science, some are listed below:</a:t>
            </a:r>
          </a:p>
          <a:p>
            <a:pPr marL="342900" indent="-342900" algn="just">
              <a:spcAft>
                <a:spcPts val="600"/>
              </a:spcAft>
              <a:buAutoNum type="arabicPeriod"/>
            </a:pPr>
            <a:r>
              <a:rPr lang="en-PH" b="1" dirty="0">
                <a:latin typeface="Tw Cen MT" panose="020B0602020104020603" pitchFamily="34" charset="0"/>
              </a:rPr>
              <a:t>Bipartite Networks </a:t>
            </a:r>
            <a:r>
              <a:rPr lang="en-PH" dirty="0">
                <a:latin typeface="Tw Cen MT" panose="020B0602020104020603" pitchFamily="34" charset="0"/>
              </a:rPr>
              <a:t>– Graphs that have two types of nodes. Edges can only connect nodes of different types. If we have </a:t>
            </a:r>
            <a:r>
              <a:rPr lang="en-PH" i="1" dirty="0">
                <a:latin typeface="Tw Cen MT" panose="020B0602020104020603" pitchFamily="34" charset="0"/>
              </a:rPr>
              <a:t>n </a:t>
            </a:r>
            <a:r>
              <a:rPr lang="en-PH" dirty="0">
                <a:latin typeface="Tw Cen MT" panose="020B0602020104020603" pitchFamily="34" charset="0"/>
              </a:rPr>
              <a:t>of nodes then we generalize to an </a:t>
            </a:r>
            <a:r>
              <a:rPr lang="en-PH" b="1" i="1" dirty="0">
                <a:latin typeface="Tw Cen MT" panose="020B0602020104020603" pitchFamily="34" charset="0"/>
              </a:rPr>
              <a:t>n</a:t>
            </a:r>
            <a:r>
              <a:rPr lang="en-PH" b="1" dirty="0">
                <a:latin typeface="Tw Cen MT" panose="020B0602020104020603" pitchFamily="34" charset="0"/>
              </a:rPr>
              <a:t>-partite</a:t>
            </a:r>
            <a:r>
              <a:rPr lang="en-PH" dirty="0">
                <a:latin typeface="Tw Cen MT" panose="020B0602020104020603" pitchFamily="34" charset="0"/>
              </a:rPr>
              <a:t> network.</a:t>
            </a:r>
          </a:p>
          <a:p>
            <a:pPr marL="342900" indent="-342900" algn="just">
              <a:spcAft>
                <a:spcPts val="600"/>
              </a:spcAft>
              <a:buAutoNum type="arabicPeriod"/>
            </a:pPr>
            <a:r>
              <a:rPr lang="en-PH" b="1" dirty="0">
                <a:latin typeface="Tw Cen MT" panose="020B0602020104020603" pitchFamily="34" charset="0"/>
              </a:rPr>
              <a:t>Multigraphs </a:t>
            </a:r>
            <a:r>
              <a:rPr lang="en-PH" dirty="0">
                <a:latin typeface="Tw Cen MT" panose="020B0602020104020603" pitchFamily="34" charset="0"/>
              </a:rPr>
              <a:t>– We allow multiple (parallel) edges to connect nodes. I’m quite familiar with this as I use this in my research because the library I use represents road networks to  multigraphs! </a:t>
            </a:r>
          </a:p>
          <a:p>
            <a:pPr marL="342900" indent="-342900" algn="just">
              <a:spcAft>
                <a:spcPts val="600"/>
              </a:spcAft>
              <a:buAutoNum type="arabicPeriod"/>
            </a:pPr>
            <a:r>
              <a:rPr lang="en-PH" b="1" dirty="0">
                <a:latin typeface="Tw Cen MT" panose="020B0602020104020603" pitchFamily="34" charset="0"/>
              </a:rPr>
              <a:t>Multilayer Networks </a:t>
            </a:r>
            <a:r>
              <a:rPr lang="en-PH" dirty="0">
                <a:latin typeface="Tw Cen MT" panose="020B0602020104020603" pitchFamily="34" charset="0"/>
              </a:rPr>
              <a:t>– Different layers representing how different nodes can connect in different ways. Each layer can connect with each other (many to many). </a:t>
            </a:r>
          </a:p>
          <a:p>
            <a:pPr marL="342900" indent="-342900" algn="just">
              <a:spcAft>
                <a:spcPts val="600"/>
              </a:spcAft>
              <a:buAutoNum type="arabicPeriod"/>
            </a:pPr>
            <a:r>
              <a:rPr lang="en-PH" b="1" dirty="0">
                <a:latin typeface="Tw Cen MT" panose="020B0602020104020603" pitchFamily="34" charset="0"/>
              </a:rPr>
              <a:t>Signed Networks </a:t>
            </a:r>
            <a:r>
              <a:rPr lang="en-PH" dirty="0">
                <a:latin typeface="Tw Cen MT" panose="020B0602020104020603" pitchFamily="34" charset="0"/>
              </a:rPr>
              <a:t>– Multilayer network with just two layers, one representing “friendship” and one representing “enmity”.</a:t>
            </a:r>
          </a:p>
          <a:p>
            <a:pPr marL="342900" indent="-342900" algn="just">
              <a:spcAft>
                <a:spcPts val="600"/>
              </a:spcAft>
              <a:buAutoNum type="arabicPeriod"/>
            </a:pPr>
            <a:r>
              <a:rPr lang="en-PH" b="1" dirty="0">
                <a:latin typeface="Tw Cen MT" panose="020B0602020104020603" pitchFamily="34" charset="0"/>
              </a:rPr>
              <a:t>Hypergraphs</a:t>
            </a:r>
            <a:r>
              <a:rPr lang="en-PH" dirty="0">
                <a:latin typeface="Tw Cen MT" panose="020B0602020104020603" pitchFamily="34" charset="0"/>
              </a:rPr>
              <a:t> – Contains hyperedges that can connect more than two nodes at the same time. </a:t>
            </a:r>
            <a:endParaRPr lang="en-PH" b="1" dirty="0">
              <a:latin typeface="Tw Cen MT" panose="020B0602020104020603" pitchFamily="34" charset="0"/>
            </a:endParaRPr>
          </a:p>
          <a:p>
            <a:pPr marL="342900" indent="-342900" algn="just">
              <a:spcAft>
                <a:spcPts val="600"/>
              </a:spcAft>
              <a:buAutoNum type="arabicPeriod"/>
            </a:pPr>
            <a:r>
              <a:rPr lang="en-PH" b="1" dirty="0">
                <a:latin typeface="Tw Cen MT" panose="020B0602020104020603" pitchFamily="34" charset="0"/>
              </a:rPr>
              <a:t>Dynamic Graphs</a:t>
            </a:r>
            <a:r>
              <a:rPr lang="en-PH" dirty="0">
                <a:latin typeface="Tw Cen MT" panose="020B0602020104020603" pitchFamily="34" charset="0"/>
              </a:rPr>
              <a:t> – Contains temporal information on nodes and edges to model evolving systems.</a:t>
            </a:r>
          </a:p>
          <a:p>
            <a:pPr algn="just">
              <a:spcAft>
                <a:spcPts val="600"/>
              </a:spcAft>
            </a:pPr>
            <a:r>
              <a:rPr lang="en-PH" dirty="0">
                <a:latin typeface="Tw Cen MT" panose="020B0602020104020603" pitchFamily="34" charset="0"/>
              </a:rPr>
              <a:t> </a:t>
            </a:r>
            <a:endParaRPr lang="en-PH" b="1" dirty="0">
              <a:latin typeface="Tw Cen MT" panose="020B0602020104020603" pitchFamily="34" charset="0"/>
            </a:endParaRPr>
          </a:p>
          <a:p>
            <a:pPr marL="342900" indent="-342900" algn="just">
              <a:spcAft>
                <a:spcPts val="600"/>
              </a:spcAft>
              <a:buAutoNum type="arabicPeriod"/>
            </a:pPr>
            <a:endParaRPr lang="en-PH" dirty="0">
              <a:latin typeface="Tw Cen MT" panose="020B0602020104020603" pitchFamily="34" charset="0"/>
            </a:endParaRPr>
          </a:p>
        </p:txBody>
      </p:sp>
      <p:sp>
        <p:nvSpPr>
          <p:cNvPr id="13" name="TextBox 12">
            <a:extLst>
              <a:ext uri="{FF2B5EF4-FFF2-40B4-BE49-F238E27FC236}">
                <a16:creationId xmlns:a16="http://schemas.microsoft.com/office/drawing/2014/main" id="{CB1C9D92-2EA1-4B21-9457-E09EE80BBC0A}"/>
              </a:ext>
            </a:extLst>
          </p:cNvPr>
          <p:cNvSpPr txBox="1"/>
          <p:nvPr/>
        </p:nvSpPr>
        <p:spPr>
          <a:xfrm>
            <a:off x="6281053" y="790732"/>
            <a:ext cx="5669207" cy="2308324"/>
          </a:xfrm>
          <a:prstGeom prst="rect">
            <a:avLst/>
          </a:prstGeom>
          <a:noFill/>
        </p:spPr>
        <p:txBody>
          <a:bodyPr wrap="square">
            <a:spAutoFit/>
          </a:bodyPr>
          <a:lstStyle/>
          <a:p>
            <a:pPr algn="just">
              <a:spcAft>
                <a:spcPts val="600"/>
              </a:spcAft>
            </a:pPr>
            <a:r>
              <a:rPr lang="en-PH" dirty="0">
                <a:latin typeface="Tw Cen MT" panose="020B0602020104020603" pitchFamily="34" charset="0"/>
              </a:rPr>
              <a:t>Now that we know different types of network, we move on to actually working with them. There are many properties we usually measure concerning graph, but one of the most important is </a:t>
            </a:r>
            <a:r>
              <a:rPr lang="en-PH" b="1" dirty="0">
                <a:latin typeface="Tw Cen MT" panose="020B0602020104020603" pitchFamily="34" charset="0"/>
              </a:rPr>
              <a:t>degree. </a:t>
            </a:r>
            <a:r>
              <a:rPr lang="en-PH" dirty="0">
                <a:latin typeface="Tw Cen MT" panose="020B0602020104020603" pitchFamily="34" charset="0"/>
              </a:rPr>
              <a:t>This is a property of a node that tells us how connected that particular node is to others. </a:t>
            </a:r>
            <a:r>
              <a:rPr lang="en-PH" b="1" dirty="0">
                <a:latin typeface="Tw Cen MT" panose="020B0602020104020603" pitchFamily="34" charset="0"/>
              </a:rPr>
              <a:t>In Fig 4. below, I load Zachary’s karate club then determine each node’s degree. We then use the weights stored in each edge to generate a degree distribution in Fig 5. </a:t>
            </a:r>
          </a:p>
        </p:txBody>
      </p:sp>
      <p:sp>
        <p:nvSpPr>
          <p:cNvPr id="16" name="TextBox 15">
            <a:extLst>
              <a:ext uri="{FF2B5EF4-FFF2-40B4-BE49-F238E27FC236}">
                <a16:creationId xmlns:a16="http://schemas.microsoft.com/office/drawing/2014/main" id="{466CE804-DFC6-43AD-9051-1EE990BBC34D}"/>
              </a:ext>
            </a:extLst>
          </p:cNvPr>
          <p:cNvSpPr txBox="1"/>
          <p:nvPr/>
        </p:nvSpPr>
        <p:spPr>
          <a:xfrm>
            <a:off x="6154304" y="6471895"/>
            <a:ext cx="6228997" cy="307777"/>
          </a:xfrm>
          <a:prstGeom prst="rect">
            <a:avLst/>
          </a:prstGeom>
          <a:noFill/>
        </p:spPr>
        <p:txBody>
          <a:bodyPr wrap="square">
            <a:spAutoFit/>
          </a:bodyPr>
          <a:lstStyle/>
          <a:p>
            <a:pPr algn="ctr"/>
            <a:r>
              <a:rPr lang="en-US" sz="1400" dirty="0">
                <a:latin typeface="Tw Cen MT" panose="020B0602020104020603" pitchFamily="34" charset="0"/>
              </a:rPr>
              <a:t>Fig 4. Zachary’s karate club comprising 33 nodes and weighted edges</a:t>
            </a:r>
            <a:endParaRPr lang="en-PH" sz="700" b="1" dirty="0">
              <a:solidFill>
                <a:schemeClr val="accent1"/>
              </a:solidFill>
              <a:latin typeface="Tw Cen MT" panose="020B0602020104020603" pitchFamily="34" charset="0"/>
            </a:endParaRPr>
          </a:p>
        </p:txBody>
      </p:sp>
      <p:pic>
        <p:nvPicPr>
          <p:cNvPr id="3076" name="Picture 4">
            <a:extLst>
              <a:ext uri="{FF2B5EF4-FFF2-40B4-BE49-F238E27FC236}">
                <a16:creationId xmlns:a16="http://schemas.microsoft.com/office/drawing/2014/main" id="{A221D375-9053-4E84-B49E-22B7BA5E6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452" y="3071790"/>
            <a:ext cx="4768699" cy="3400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4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5 </a:t>
            </a:r>
            <a:r>
              <a:rPr lang="en-PH" dirty="0"/>
              <a:t>of 7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11250198" cy="646331"/>
          </a:xfrm>
          <a:prstGeom prst="rect">
            <a:avLst/>
          </a:prstGeom>
          <a:noFill/>
        </p:spPr>
        <p:txBody>
          <a:bodyPr wrap="square">
            <a:spAutoFit/>
          </a:bodyPr>
          <a:lstStyle/>
          <a:p>
            <a:r>
              <a:rPr lang="en-PH" sz="3600" dirty="0">
                <a:latin typeface="Tw Cen MT" panose="020B0602020104020603" pitchFamily="34" charset="0"/>
              </a:rPr>
              <a:t>Degree Distribution                 Random Graphs (</a:t>
            </a:r>
            <a:r>
              <a:rPr lang="en-PH" sz="3600" dirty="0" err="1">
                <a:latin typeface="Tw Cen MT" panose="020B0602020104020603" pitchFamily="34" charset="0"/>
              </a:rPr>
              <a:t>Erdos-Rényi</a:t>
            </a:r>
            <a:r>
              <a:rPr lang="en-PH" sz="3600" dirty="0">
                <a:latin typeface="Tw Cen MT" panose="020B0602020104020603" pitchFamily="34" charset="0"/>
              </a:rPr>
              <a:t>)</a:t>
            </a:r>
            <a:endParaRPr lang="en-PH" sz="3600" dirty="0"/>
          </a:p>
        </p:txBody>
      </p:sp>
      <p:sp>
        <p:nvSpPr>
          <p:cNvPr id="13" name="TextBox 12">
            <a:extLst>
              <a:ext uri="{FF2B5EF4-FFF2-40B4-BE49-F238E27FC236}">
                <a16:creationId xmlns:a16="http://schemas.microsoft.com/office/drawing/2014/main" id="{CB1C9D92-2EA1-4B21-9457-E09EE80BBC0A}"/>
              </a:ext>
            </a:extLst>
          </p:cNvPr>
          <p:cNvSpPr txBox="1"/>
          <p:nvPr/>
        </p:nvSpPr>
        <p:spPr>
          <a:xfrm>
            <a:off x="0" y="3963762"/>
            <a:ext cx="5889171" cy="2939266"/>
          </a:xfrm>
          <a:prstGeom prst="rect">
            <a:avLst/>
          </a:prstGeom>
          <a:noFill/>
        </p:spPr>
        <p:txBody>
          <a:bodyPr wrap="square">
            <a:spAutoFit/>
          </a:bodyPr>
          <a:lstStyle/>
          <a:p>
            <a:pPr algn="just">
              <a:spcAft>
                <a:spcPts val="600"/>
              </a:spcAft>
            </a:pPr>
            <a:r>
              <a:rPr lang="en-PH" dirty="0">
                <a:latin typeface="Tw Cen MT" panose="020B0602020104020603" pitchFamily="34" charset="0"/>
              </a:rPr>
              <a:t>Since the network is weighted, the contribution of each edge to a node’s degree are different unlike in a simple graph. Since Zachary’s karate club is not a complex network, its degree distribution appears discrete and does not follow typical trends such as a power law or a log-scale. </a:t>
            </a:r>
          </a:p>
          <a:p>
            <a:pPr algn="just">
              <a:spcAft>
                <a:spcPts val="600"/>
              </a:spcAft>
            </a:pPr>
            <a:r>
              <a:rPr lang="en-PH" b="1" dirty="0" err="1">
                <a:latin typeface="Tw Cen MT" panose="020B0602020104020603" pitchFamily="34" charset="0"/>
              </a:rPr>
              <a:t>Networkx</a:t>
            </a:r>
            <a:r>
              <a:rPr lang="en-PH" b="1" dirty="0">
                <a:latin typeface="Tw Cen MT" panose="020B0602020104020603" pitchFamily="34" charset="0"/>
              </a:rPr>
              <a:t> also provides functions to calculate the clustering coefficient of each node, and shortest path length using Dijkstra’s or Floyd-</a:t>
            </a:r>
            <a:r>
              <a:rPr lang="en-PH" b="1" dirty="0" err="1">
                <a:latin typeface="Tw Cen MT" panose="020B0602020104020603" pitchFamily="34" charset="0"/>
              </a:rPr>
              <a:t>Warshall’s</a:t>
            </a:r>
            <a:r>
              <a:rPr lang="en-PH" b="1" dirty="0">
                <a:latin typeface="Tw Cen MT" panose="020B0602020104020603" pitchFamily="34" charset="0"/>
              </a:rPr>
              <a:t> algorithm. </a:t>
            </a:r>
            <a:r>
              <a:rPr lang="en-PH" dirty="0">
                <a:latin typeface="Tw Cen MT" panose="020B0602020104020603" pitchFamily="34" charset="0"/>
              </a:rPr>
              <a:t>The former shortest-path algorithm is of course used in origin-destination analysis and the latter for analyzing the whole network </a:t>
            </a:r>
            <a:endParaRPr lang="en-PH" b="1" dirty="0">
              <a:latin typeface="Tw Cen MT" panose="020B0602020104020603" pitchFamily="34" charset="0"/>
            </a:endParaRPr>
          </a:p>
        </p:txBody>
      </p:sp>
      <p:sp>
        <p:nvSpPr>
          <p:cNvPr id="16" name="TextBox 15">
            <a:extLst>
              <a:ext uri="{FF2B5EF4-FFF2-40B4-BE49-F238E27FC236}">
                <a16:creationId xmlns:a16="http://schemas.microsoft.com/office/drawing/2014/main" id="{466CE804-DFC6-43AD-9051-1EE990BBC34D}"/>
              </a:ext>
            </a:extLst>
          </p:cNvPr>
          <p:cNvSpPr txBox="1"/>
          <p:nvPr/>
        </p:nvSpPr>
        <p:spPr>
          <a:xfrm>
            <a:off x="-254876" y="3691360"/>
            <a:ext cx="6228997" cy="307777"/>
          </a:xfrm>
          <a:prstGeom prst="rect">
            <a:avLst/>
          </a:prstGeom>
          <a:noFill/>
        </p:spPr>
        <p:txBody>
          <a:bodyPr wrap="square">
            <a:spAutoFit/>
          </a:bodyPr>
          <a:lstStyle/>
          <a:p>
            <a:pPr algn="ctr"/>
            <a:r>
              <a:rPr lang="en-US" sz="1400" dirty="0">
                <a:latin typeface="Tw Cen MT" panose="020B0602020104020603" pitchFamily="34" charset="0"/>
              </a:rPr>
              <a:t>Fig 5. Degree distribution of Zachary’s karate club</a:t>
            </a:r>
            <a:endParaRPr lang="en-PH" sz="700" b="1" dirty="0">
              <a:solidFill>
                <a:schemeClr val="accent1"/>
              </a:solidFill>
              <a:latin typeface="Tw Cen MT" panose="020B0602020104020603" pitchFamily="34" charset="0"/>
            </a:endParaRPr>
          </a:p>
        </p:txBody>
      </p:sp>
      <p:pic>
        <p:nvPicPr>
          <p:cNvPr id="4100" name="Picture 4">
            <a:extLst>
              <a:ext uri="{FF2B5EF4-FFF2-40B4-BE49-F238E27FC236}">
                <a16:creationId xmlns:a16="http://schemas.microsoft.com/office/drawing/2014/main" id="{4B21661C-C6C7-4D69-B198-FB58F410C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299" y="1232386"/>
            <a:ext cx="3782571" cy="252777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DD065A98-94C8-4858-96E5-F53937AF4319}"/>
              </a:ext>
            </a:extLst>
          </p:cNvPr>
          <p:cNvSpPr txBox="1"/>
          <p:nvPr/>
        </p:nvSpPr>
        <p:spPr>
          <a:xfrm>
            <a:off x="5742023" y="1232386"/>
            <a:ext cx="6208237" cy="2462213"/>
          </a:xfrm>
          <a:prstGeom prst="rect">
            <a:avLst/>
          </a:prstGeom>
          <a:noFill/>
        </p:spPr>
        <p:txBody>
          <a:bodyPr wrap="square">
            <a:spAutoFit/>
          </a:bodyPr>
          <a:lstStyle/>
          <a:p>
            <a:pPr algn="just">
              <a:spcAft>
                <a:spcPts val="1200"/>
              </a:spcAft>
            </a:pPr>
            <a:r>
              <a:rPr lang="en-PH" dirty="0">
                <a:latin typeface="Tw Cen MT" panose="020B0602020104020603" pitchFamily="34" charset="0"/>
              </a:rPr>
              <a:t>To explore various network properties, one must first create a network (amazing, I know). Suppose we want to model plant epidemics and how they spread through out time using a novel model. One way to generate your network in this case is by making an </a:t>
            </a:r>
            <a:r>
              <a:rPr lang="en-PH" sz="1800" b="1" dirty="0" err="1">
                <a:latin typeface="Tw Cen MT" panose="020B0602020104020603" pitchFamily="34" charset="0"/>
              </a:rPr>
              <a:t>Erdos-Rényi</a:t>
            </a:r>
            <a:r>
              <a:rPr lang="en-PH" sz="1800" b="1" dirty="0">
                <a:latin typeface="Tw Cen MT" panose="020B0602020104020603" pitchFamily="34" charset="0"/>
              </a:rPr>
              <a:t> (ER) graph, particularly the </a:t>
            </a:r>
            <a:r>
              <a:rPr lang="en-PH" b="1" i="1" dirty="0">
                <a:latin typeface="Tw Cen MT" panose="020B0602020104020603" pitchFamily="34" charset="0"/>
              </a:rPr>
              <a:t>G(</a:t>
            </a:r>
            <a:r>
              <a:rPr lang="en-PH" b="1" i="1" dirty="0" err="1">
                <a:latin typeface="Tw Cen MT" panose="020B0602020104020603" pitchFamily="34" charset="0"/>
              </a:rPr>
              <a:t>n,p</a:t>
            </a:r>
            <a:r>
              <a:rPr lang="en-PH" b="1" dirty="0">
                <a:latin typeface="Tw Cen MT" panose="020B0602020104020603" pitchFamily="34" charset="0"/>
              </a:rPr>
              <a:t>) kind</a:t>
            </a:r>
            <a:r>
              <a:rPr lang="en-PH" sz="1800" b="1" dirty="0">
                <a:latin typeface="Tw Cen MT" panose="020B0602020104020603" pitchFamily="34" charset="0"/>
              </a:rPr>
              <a:t>. </a:t>
            </a:r>
            <a:endParaRPr lang="en-PH" dirty="0">
              <a:latin typeface="Tw Cen MT" panose="020B0602020104020603" pitchFamily="34" charset="0"/>
            </a:endParaRPr>
          </a:p>
          <a:p>
            <a:pPr algn="just">
              <a:spcAft>
                <a:spcPts val="600"/>
              </a:spcAft>
            </a:pPr>
            <a:r>
              <a:rPr lang="en-PH" dirty="0">
                <a:latin typeface="Tw Cen MT" panose="020B0602020104020603" pitchFamily="34" charset="0"/>
              </a:rPr>
              <a:t>In the </a:t>
            </a:r>
            <a:r>
              <a:rPr lang="en-PH" i="1" dirty="0">
                <a:latin typeface="Tw Cen MT" panose="020B0602020104020603" pitchFamily="34" charset="0"/>
              </a:rPr>
              <a:t>G(</a:t>
            </a:r>
            <a:r>
              <a:rPr lang="en-PH" i="1" dirty="0" err="1">
                <a:latin typeface="Tw Cen MT" panose="020B0602020104020603" pitchFamily="34" charset="0"/>
              </a:rPr>
              <a:t>n,p</a:t>
            </a:r>
            <a:r>
              <a:rPr lang="en-PH" i="1" dirty="0">
                <a:latin typeface="Tw Cen MT" panose="020B0602020104020603" pitchFamily="34" charset="0"/>
              </a:rPr>
              <a:t>)</a:t>
            </a:r>
            <a:r>
              <a:rPr lang="en-PH" dirty="0">
                <a:latin typeface="Tw Cen MT" panose="020B0602020104020603" pitchFamily="34" charset="0"/>
              </a:rPr>
              <a:t> model, a graph is generated by connecting nodes based on a probability </a:t>
            </a:r>
            <a:r>
              <a:rPr lang="en-PH" i="1" dirty="0">
                <a:latin typeface="Tw Cen MT" panose="020B0602020104020603" pitchFamily="34" charset="0"/>
              </a:rPr>
              <a:t>p</a:t>
            </a:r>
            <a:r>
              <a:rPr lang="en-PH" dirty="0">
                <a:latin typeface="Tw Cen MT" panose="020B0602020104020603" pitchFamily="34" charset="0"/>
              </a:rPr>
              <a:t>. Each edge is included independently of any other edge. In Fig 6., I generate these graphs…</a:t>
            </a:r>
          </a:p>
        </p:txBody>
      </p:sp>
      <p:pic>
        <p:nvPicPr>
          <p:cNvPr id="4102" name="Picture 6">
            <a:extLst>
              <a:ext uri="{FF2B5EF4-FFF2-40B4-BE49-F238E27FC236}">
                <a16:creationId xmlns:a16="http://schemas.microsoft.com/office/drawing/2014/main" id="{80724B1D-EF8A-4991-BC29-61012DF09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6112" y="3760162"/>
            <a:ext cx="2846943" cy="204264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884ECFB7-AB6B-4684-8DC6-A55904C24E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171" y="3760163"/>
            <a:ext cx="2846941" cy="204264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44EC70D-C9A0-435A-B7F9-EE790ADBEC2F}"/>
              </a:ext>
            </a:extLst>
          </p:cNvPr>
          <p:cNvSpPr txBox="1"/>
          <p:nvPr/>
        </p:nvSpPr>
        <p:spPr>
          <a:xfrm>
            <a:off x="5621613" y="5694800"/>
            <a:ext cx="6228997" cy="307777"/>
          </a:xfrm>
          <a:prstGeom prst="rect">
            <a:avLst/>
          </a:prstGeom>
          <a:noFill/>
        </p:spPr>
        <p:txBody>
          <a:bodyPr wrap="square">
            <a:spAutoFit/>
          </a:bodyPr>
          <a:lstStyle/>
          <a:p>
            <a:pPr algn="ctr"/>
            <a:r>
              <a:rPr lang="en-US" sz="1400" dirty="0">
                <a:latin typeface="Tw Cen MT" panose="020B0602020104020603" pitchFamily="34" charset="0"/>
              </a:rPr>
              <a:t>Fig 6. Randomly generated ER graphs with the same parameters</a:t>
            </a:r>
            <a:endParaRPr lang="en-PH" sz="700" b="1" dirty="0">
              <a:solidFill>
                <a:schemeClr val="accent1"/>
              </a:solidFill>
              <a:latin typeface="Tw Cen MT" panose="020B0602020104020603" pitchFamily="34" charset="0"/>
            </a:endParaRPr>
          </a:p>
        </p:txBody>
      </p:sp>
      <p:sp>
        <p:nvSpPr>
          <p:cNvPr id="21" name="TextBox 20">
            <a:extLst>
              <a:ext uri="{FF2B5EF4-FFF2-40B4-BE49-F238E27FC236}">
                <a16:creationId xmlns:a16="http://schemas.microsoft.com/office/drawing/2014/main" id="{C8975A17-F263-43EB-8E59-C326E068A46A}"/>
              </a:ext>
            </a:extLst>
          </p:cNvPr>
          <p:cNvSpPr txBox="1"/>
          <p:nvPr/>
        </p:nvSpPr>
        <p:spPr>
          <a:xfrm>
            <a:off x="5883854" y="6034275"/>
            <a:ext cx="6066406" cy="646331"/>
          </a:xfrm>
          <a:prstGeom prst="rect">
            <a:avLst/>
          </a:prstGeom>
          <a:noFill/>
        </p:spPr>
        <p:txBody>
          <a:bodyPr wrap="square">
            <a:spAutoFit/>
          </a:bodyPr>
          <a:lstStyle/>
          <a:p>
            <a:pPr algn="just">
              <a:spcAft>
                <a:spcPts val="1200"/>
              </a:spcAft>
            </a:pPr>
            <a:r>
              <a:rPr lang="en-PH" dirty="0">
                <a:latin typeface="Tw Cen MT" panose="020B0602020104020603" pitchFamily="34" charset="0"/>
              </a:rPr>
              <a:t>There are other types of graphs we can use, such as random geometric etc., but it is up to the scenario we model what to use.</a:t>
            </a:r>
          </a:p>
        </p:txBody>
      </p:sp>
    </p:spTree>
    <p:extLst>
      <p:ext uri="{BB962C8B-B14F-4D97-AF65-F5344CB8AC3E}">
        <p14:creationId xmlns:p14="http://schemas.microsoft.com/office/powerpoint/2010/main" val="1445265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6 </a:t>
            </a:r>
            <a:r>
              <a:rPr lang="en-PH" dirty="0"/>
              <a:t>of 7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4" y="594822"/>
            <a:ext cx="7298683" cy="646331"/>
          </a:xfrm>
          <a:prstGeom prst="rect">
            <a:avLst/>
          </a:prstGeom>
          <a:noFill/>
        </p:spPr>
        <p:txBody>
          <a:bodyPr wrap="square">
            <a:spAutoFit/>
          </a:bodyPr>
          <a:lstStyle/>
          <a:p>
            <a:r>
              <a:rPr lang="en-PH" sz="3600" dirty="0">
                <a:latin typeface="Tw Cen MT" panose="020B0602020104020603" pitchFamily="34" charset="0"/>
              </a:rPr>
              <a:t>Adjacency Matrix</a:t>
            </a:r>
          </a:p>
        </p:txBody>
      </p:sp>
      <p:sp>
        <p:nvSpPr>
          <p:cNvPr id="15" name="TextBox 14">
            <a:extLst>
              <a:ext uri="{FF2B5EF4-FFF2-40B4-BE49-F238E27FC236}">
                <a16:creationId xmlns:a16="http://schemas.microsoft.com/office/drawing/2014/main" id="{673669A0-D16A-43D5-A824-28214DF9DD01}"/>
              </a:ext>
            </a:extLst>
          </p:cNvPr>
          <p:cNvSpPr txBox="1"/>
          <p:nvPr/>
        </p:nvSpPr>
        <p:spPr>
          <a:xfrm>
            <a:off x="147144" y="1232386"/>
            <a:ext cx="5948855" cy="1077218"/>
          </a:xfrm>
          <a:prstGeom prst="rect">
            <a:avLst/>
          </a:prstGeom>
          <a:noFill/>
        </p:spPr>
        <p:txBody>
          <a:bodyPr wrap="square">
            <a:spAutoFit/>
          </a:bodyPr>
          <a:lstStyle/>
          <a:p>
            <a:pPr algn="just">
              <a:spcAft>
                <a:spcPts val="600"/>
              </a:spcAft>
            </a:pPr>
            <a:r>
              <a:rPr lang="en-PH" sz="1600" dirty="0">
                <a:latin typeface="Tw Cen MT" panose="020B0602020104020603" pitchFamily="34" charset="0"/>
              </a:rPr>
              <a:t>The adjacency matrix is a basic representation of a graph as a matrix (I know, shocking). To explore its properties, let us first create a graph. </a:t>
            </a:r>
            <a:r>
              <a:rPr lang="en-PH" sz="1600" b="1" dirty="0">
                <a:latin typeface="Tw Cen MT" panose="020B0602020104020603" pitchFamily="34" charset="0"/>
              </a:rPr>
              <a:t>For this example, I make a weighted graph whose nodes are dependent on position shown in Fig 7.</a:t>
            </a:r>
          </a:p>
        </p:txBody>
      </p:sp>
      <p:sp>
        <p:nvSpPr>
          <p:cNvPr id="13" name="TextBox 12">
            <a:extLst>
              <a:ext uri="{FF2B5EF4-FFF2-40B4-BE49-F238E27FC236}">
                <a16:creationId xmlns:a16="http://schemas.microsoft.com/office/drawing/2014/main" id="{CB6E948F-750A-4928-A73A-46B85B5C3A69}"/>
              </a:ext>
            </a:extLst>
          </p:cNvPr>
          <p:cNvSpPr txBox="1"/>
          <p:nvPr/>
        </p:nvSpPr>
        <p:spPr>
          <a:xfrm>
            <a:off x="427092" y="5324948"/>
            <a:ext cx="5388957" cy="523220"/>
          </a:xfrm>
          <a:prstGeom prst="rect">
            <a:avLst/>
          </a:prstGeom>
          <a:noFill/>
        </p:spPr>
        <p:txBody>
          <a:bodyPr wrap="square">
            <a:spAutoFit/>
          </a:bodyPr>
          <a:lstStyle/>
          <a:p>
            <a:pPr algn="ctr"/>
            <a:r>
              <a:rPr lang="en-US" sz="1400" dirty="0">
                <a:latin typeface="Tw Cen MT" panose="020B0602020104020603" pitchFamily="34" charset="0"/>
              </a:rPr>
              <a:t>Fig 7.  A weighted graph with 5 nodes. The positions of the nodes were defined manually. The network is non-directed and has no self-loops</a:t>
            </a:r>
            <a:endParaRPr lang="en-PH" sz="700" dirty="0">
              <a:latin typeface="Tw Cen MT" panose="020B0602020104020603" pitchFamily="34" charset="0"/>
            </a:endParaRPr>
          </a:p>
        </p:txBody>
      </p:sp>
      <p:sp>
        <p:nvSpPr>
          <p:cNvPr id="16" name="TextBox 15">
            <a:extLst>
              <a:ext uri="{FF2B5EF4-FFF2-40B4-BE49-F238E27FC236}">
                <a16:creationId xmlns:a16="http://schemas.microsoft.com/office/drawing/2014/main" id="{979C9B70-7ED8-480E-ADEB-A9B0C69B1CB0}"/>
              </a:ext>
            </a:extLst>
          </p:cNvPr>
          <p:cNvSpPr txBox="1"/>
          <p:nvPr/>
        </p:nvSpPr>
        <p:spPr>
          <a:xfrm>
            <a:off x="6257121" y="3348298"/>
            <a:ext cx="5589639" cy="461665"/>
          </a:xfrm>
          <a:prstGeom prst="rect">
            <a:avLst/>
          </a:prstGeom>
          <a:noFill/>
        </p:spPr>
        <p:txBody>
          <a:bodyPr wrap="square">
            <a:spAutoFit/>
          </a:bodyPr>
          <a:lstStyle/>
          <a:p>
            <a:pPr algn="ctr"/>
            <a:r>
              <a:rPr lang="en-US" sz="1200" dirty="0">
                <a:latin typeface="Tw Cen MT" panose="020B0602020104020603" pitchFamily="34" charset="0"/>
              </a:rPr>
              <a:t>Fig 8. Adjacency matrix of the network in Fig 7. Note that it is a square matrix that is mirrored with respect to the diagonal. Moreover, this diagonal is comprised of 0’s</a:t>
            </a:r>
          </a:p>
        </p:txBody>
      </p:sp>
      <p:sp>
        <p:nvSpPr>
          <p:cNvPr id="19" name="TextBox 18">
            <a:extLst>
              <a:ext uri="{FF2B5EF4-FFF2-40B4-BE49-F238E27FC236}">
                <a16:creationId xmlns:a16="http://schemas.microsoft.com/office/drawing/2014/main" id="{FCC27F9C-A8B7-400A-AD20-D203937050BB}"/>
              </a:ext>
            </a:extLst>
          </p:cNvPr>
          <p:cNvSpPr txBox="1"/>
          <p:nvPr/>
        </p:nvSpPr>
        <p:spPr>
          <a:xfrm>
            <a:off x="147144" y="5979557"/>
            <a:ext cx="5948855" cy="830997"/>
          </a:xfrm>
          <a:prstGeom prst="rect">
            <a:avLst/>
          </a:prstGeom>
          <a:noFill/>
        </p:spPr>
        <p:txBody>
          <a:bodyPr wrap="square">
            <a:spAutoFit/>
          </a:bodyPr>
          <a:lstStyle/>
          <a:p>
            <a:pPr algn="just">
              <a:spcAft>
                <a:spcPts val="600"/>
              </a:spcAft>
            </a:pPr>
            <a:r>
              <a:rPr lang="en-US" sz="1600" b="1" dirty="0">
                <a:latin typeface="Tw Cen MT" panose="020B0602020104020603" pitchFamily="34" charset="0"/>
              </a:rPr>
              <a:t>Now we can generate the adjacency matrix! Each row/column corresponds to a node, and the elements of the matrix represent each connection as shown in Fig 8.</a:t>
            </a:r>
            <a:endParaRPr lang="en-PH" sz="1600" b="1" dirty="0">
              <a:latin typeface="Tw Cen MT" panose="020B0602020104020603" pitchFamily="34" charset="0"/>
            </a:endParaRPr>
          </a:p>
        </p:txBody>
      </p:sp>
      <p:sp>
        <p:nvSpPr>
          <p:cNvPr id="21" name="TextBox 20">
            <a:extLst>
              <a:ext uri="{FF2B5EF4-FFF2-40B4-BE49-F238E27FC236}">
                <a16:creationId xmlns:a16="http://schemas.microsoft.com/office/drawing/2014/main" id="{6969A0B6-74CB-4762-B01E-CB398886BF7D}"/>
              </a:ext>
            </a:extLst>
          </p:cNvPr>
          <p:cNvSpPr txBox="1"/>
          <p:nvPr/>
        </p:nvSpPr>
        <p:spPr>
          <a:xfrm>
            <a:off x="6168937" y="3931993"/>
            <a:ext cx="5589639" cy="2862322"/>
          </a:xfrm>
          <a:prstGeom prst="rect">
            <a:avLst/>
          </a:prstGeom>
          <a:noFill/>
        </p:spPr>
        <p:txBody>
          <a:bodyPr wrap="square">
            <a:spAutoFit/>
          </a:bodyPr>
          <a:lstStyle/>
          <a:p>
            <a:pPr algn="just">
              <a:spcAft>
                <a:spcPts val="600"/>
              </a:spcAft>
            </a:pPr>
            <a:r>
              <a:rPr lang="en-US" sz="1600" b="1" dirty="0">
                <a:latin typeface="Tw Cen MT" panose="020B0602020104020603" pitchFamily="34" charset="0"/>
              </a:rPr>
              <a:t>We highlight some qualities of this adjacency matrix: </a:t>
            </a:r>
            <a:endParaRPr lang="en-US" sz="1600" dirty="0">
              <a:latin typeface="Tw Cen MT" panose="020B0602020104020603" pitchFamily="34" charset="0"/>
            </a:endParaRPr>
          </a:p>
          <a:p>
            <a:pPr marL="342900" indent="-342900" algn="just">
              <a:spcAft>
                <a:spcPts val="600"/>
              </a:spcAft>
              <a:buAutoNum type="arabicPeriod"/>
            </a:pPr>
            <a:r>
              <a:rPr lang="en-US" sz="1600" b="1" dirty="0">
                <a:latin typeface="Tw Cen MT" panose="020B0602020104020603" pitchFamily="34" charset="0"/>
              </a:rPr>
              <a:t>It is a square matrix</a:t>
            </a:r>
            <a:r>
              <a:rPr lang="en-US" sz="1600" dirty="0">
                <a:latin typeface="Tw Cen MT" panose="020B0602020104020603" pitchFamily="34" charset="0"/>
              </a:rPr>
              <a:t> since it is not an n-partite network. The graph is just a simple weighted graph.</a:t>
            </a:r>
          </a:p>
          <a:p>
            <a:pPr marL="342900" indent="-342900" algn="just">
              <a:spcAft>
                <a:spcPts val="600"/>
              </a:spcAft>
              <a:buAutoNum type="arabicPeriod"/>
            </a:pPr>
            <a:r>
              <a:rPr lang="en-US" sz="1600" b="1" dirty="0">
                <a:latin typeface="Tw Cen MT" panose="020B0602020104020603" pitchFamily="34" charset="0"/>
              </a:rPr>
              <a:t>The diagonal is a 0 diagonal</a:t>
            </a:r>
            <a:r>
              <a:rPr lang="en-US" sz="1600" dirty="0">
                <a:latin typeface="Tw Cen MT" panose="020B0602020104020603" pitchFamily="34" charset="0"/>
              </a:rPr>
              <a:t> because there are no self-loops present in the network</a:t>
            </a:r>
          </a:p>
          <a:p>
            <a:pPr marL="342900" indent="-342900" algn="just">
              <a:spcAft>
                <a:spcPts val="600"/>
              </a:spcAft>
              <a:buAutoNum type="arabicPeriod"/>
            </a:pPr>
            <a:r>
              <a:rPr lang="en-US" sz="1600" b="1" dirty="0">
                <a:latin typeface="Tw Cen MT" panose="020B0602020104020603" pitchFamily="34" charset="0"/>
              </a:rPr>
              <a:t>The matrix is mirrored with respect to the diagonal </a:t>
            </a:r>
            <a:r>
              <a:rPr lang="en-US" sz="1600" dirty="0">
                <a:latin typeface="Tw Cen MT" panose="020B0602020104020603" pitchFamily="34" charset="0"/>
              </a:rPr>
              <a:t>because all edges have reciprocity. If this were a directed graph, it would be a different story.</a:t>
            </a:r>
          </a:p>
          <a:p>
            <a:pPr algn="just">
              <a:spcAft>
                <a:spcPts val="600"/>
              </a:spcAft>
            </a:pPr>
            <a:r>
              <a:rPr lang="en-PH" sz="1600" b="1" dirty="0">
                <a:latin typeface="Tw Cen MT" panose="020B0602020104020603" pitchFamily="34" charset="0"/>
              </a:rPr>
              <a:t>With this matrix, we can perform various operations on a network, like find its complement, or its Laplacian, </a:t>
            </a:r>
            <a:r>
              <a:rPr lang="en-PH" sz="1600" b="1" dirty="0" err="1">
                <a:latin typeface="Tw Cen MT" panose="020B0602020104020603" pitchFamily="34" charset="0"/>
              </a:rPr>
              <a:t>etc</a:t>
            </a:r>
            <a:r>
              <a:rPr lang="en-PH" sz="1600" b="1" dirty="0">
                <a:latin typeface="Tw Cen MT" panose="020B0602020104020603" pitchFamily="34" charset="0"/>
              </a:rPr>
              <a:t>…</a:t>
            </a:r>
            <a:endParaRPr lang="en-US" sz="1600" b="1" dirty="0">
              <a:latin typeface="Tw Cen MT" panose="020B0602020104020603" pitchFamily="34" charset="0"/>
            </a:endParaRPr>
          </a:p>
        </p:txBody>
      </p:sp>
      <p:pic>
        <p:nvPicPr>
          <p:cNvPr id="5122" name="Picture 2">
            <a:extLst>
              <a:ext uri="{FF2B5EF4-FFF2-40B4-BE49-F238E27FC236}">
                <a16:creationId xmlns:a16="http://schemas.microsoft.com/office/drawing/2014/main" id="{3A5CBFA8-30CD-4960-9ACA-2B7680971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782" y="2294979"/>
            <a:ext cx="4249579" cy="302996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5877AD17-5224-41B4-A9E3-C8D2477BC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101" y="657458"/>
            <a:ext cx="2979681" cy="2771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251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60604" y="507603"/>
            <a:ext cx="3024619" cy="737590"/>
          </a:xfrm>
        </p:spPr>
        <p:txBody>
          <a:bodyPr>
            <a:normAutofit/>
          </a:bodyPr>
          <a:lstStyle/>
          <a:p>
            <a:r>
              <a:rPr lang="en-PH" sz="3600" dirty="0">
                <a:latin typeface="Tw Cen MT" panose="020B0602020104020603" pitchFamily="34" charset="0"/>
              </a:rPr>
              <a:t>Key Takeaways</a:t>
            </a:r>
            <a:r>
              <a:rPr lang="en-PH" dirty="0">
                <a:latin typeface="Tw Cen MT" panose="020B0602020104020603" pitchFamily="34" charset="0"/>
              </a:rPr>
              <a:t>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278620" y="6284058"/>
            <a:ext cx="11671640" cy="328110"/>
          </a:xfrm>
        </p:spPr>
        <p:txBody>
          <a:bodyPr>
            <a:normAutofit/>
          </a:bodyPr>
          <a:lstStyle/>
          <a:p>
            <a:pPr marL="0" indent="0">
              <a:buNone/>
            </a:pPr>
            <a:r>
              <a:rPr lang="en-PH" sz="1400" dirty="0">
                <a:latin typeface="Tw Cen MT" panose="020B0602020104020603" pitchFamily="34" charset="0"/>
              </a:rPr>
              <a:t>[1] </a:t>
            </a:r>
            <a:r>
              <a:rPr lang="en-US" sz="1400" dirty="0">
                <a:latin typeface="Tw Cen MT" panose="020B0602020104020603" pitchFamily="34" charset="0"/>
              </a:rPr>
              <a:t>M. </a:t>
            </a:r>
            <a:r>
              <a:rPr lang="en-US" sz="1400" dirty="0" err="1">
                <a:latin typeface="Tw Cen MT" panose="020B0602020104020603" pitchFamily="34" charset="0"/>
              </a:rPr>
              <a:t>Coscia</a:t>
            </a:r>
            <a:r>
              <a:rPr lang="en-US" sz="1400" dirty="0">
                <a:latin typeface="Tw Cen MT" panose="020B0602020104020603" pitchFamily="34" charset="0"/>
              </a:rPr>
              <a:t>. The Atlas for the Aspiring Network Scientist. 2021. Chapters 3, 4, 6, 9, 10, 11, and 14. </a:t>
            </a:r>
            <a:r>
              <a:rPr lang="en-US" sz="1400" dirty="0">
                <a:latin typeface="Tw Cen MT" panose="020B0602020104020603" pitchFamily="34" charset="0"/>
                <a:hlinkClick r:id="rId2"/>
              </a:rPr>
              <a:t>https://www.networkatlas.eu</a:t>
            </a:r>
            <a:endParaRPr lang="en-US" sz="1400"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7 </a:t>
            </a:r>
            <a:r>
              <a:rPr lang="en-PH" dirty="0"/>
              <a:t>of 7 </a:t>
            </a:r>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3A1268FA-2793-4E5E-9F51-6E6A33F062ED}"/>
              </a:ext>
            </a:extLst>
          </p:cNvPr>
          <p:cNvSpPr txBox="1">
            <a:spLocks/>
          </p:cNvSpPr>
          <p:nvPr/>
        </p:nvSpPr>
        <p:spPr>
          <a:xfrm>
            <a:off x="260603" y="5663632"/>
            <a:ext cx="1970260" cy="58109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2800" dirty="0">
                <a:latin typeface="Tw Cen MT" panose="020B0602020104020603" pitchFamily="34" charset="0"/>
              </a:rPr>
              <a:t>Reference</a:t>
            </a:r>
            <a:r>
              <a:rPr lang="en-PH" sz="3600" dirty="0">
                <a:latin typeface="Tw Cen MT" panose="020B0602020104020603" pitchFamily="34" charset="0"/>
              </a:rPr>
              <a:t> </a:t>
            </a:r>
          </a:p>
        </p:txBody>
      </p:sp>
      <p:sp>
        <p:nvSpPr>
          <p:cNvPr id="8" name="Content Placeholder 2">
            <a:extLst>
              <a:ext uri="{FF2B5EF4-FFF2-40B4-BE49-F238E27FC236}">
                <a16:creationId xmlns:a16="http://schemas.microsoft.com/office/drawing/2014/main" id="{896540D9-306C-40D0-A29B-AA7B7B86AB9C}"/>
              </a:ext>
            </a:extLst>
          </p:cNvPr>
          <p:cNvSpPr txBox="1">
            <a:spLocks/>
          </p:cNvSpPr>
          <p:nvPr/>
        </p:nvSpPr>
        <p:spPr>
          <a:xfrm>
            <a:off x="353290" y="1157231"/>
            <a:ext cx="11347188" cy="139050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PH" sz="1600" dirty="0">
                <a:latin typeface="Tw Cen MT" panose="020B0602020104020603" pitchFamily="34" charset="0"/>
              </a:rPr>
              <a:t>There are many ways to construct a network, and choosing which one to build relies on the physical phenomena we want to model</a:t>
            </a:r>
          </a:p>
          <a:p>
            <a:pPr algn="just"/>
            <a:r>
              <a:rPr lang="en-PH" sz="1600" dirty="0">
                <a:latin typeface="Tw Cen MT" panose="020B0602020104020603" pitchFamily="34" charset="0"/>
              </a:rPr>
              <a:t>A network has many properties of interest that we usually want to measure such as its degree distribution, the shortest path between nodes, and the clustering coefficient of its nodes</a:t>
            </a:r>
          </a:p>
          <a:p>
            <a:pPr algn="just"/>
            <a:r>
              <a:rPr lang="en-PH" sz="1600" dirty="0">
                <a:latin typeface="Tw Cen MT" panose="020B0602020104020603" pitchFamily="34" charset="0"/>
              </a:rPr>
              <a:t>One can generate random graphs as synthetic data in order to explore these properties. </a:t>
            </a:r>
          </a:p>
          <a:p>
            <a:pPr algn="just"/>
            <a:r>
              <a:rPr lang="en-PH" sz="1600" dirty="0">
                <a:latin typeface="Tw Cen MT" panose="020B0602020104020603" pitchFamily="34" charset="0"/>
              </a:rPr>
              <a:t>A network can be represented by an adjacency matrix, which can be acted upon by operators to transform the network. </a:t>
            </a:r>
          </a:p>
          <a:p>
            <a:pPr algn="just"/>
            <a:endParaRPr lang="en-PH" sz="1600" dirty="0">
              <a:latin typeface="Tw Cen MT" panose="020B0602020104020603" pitchFamily="34" charset="0"/>
            </a:endParaRPr>
          </a:p>
          <a:p>
            <a:pPr algn="just"/>
            <a:endParaRPr lang="en-PH" sz="1600" dirty="0">
              <a:latin typeface="Tw Cen MT" panose="020B0602020104020603" pitchFamily="34" charset="0"/>
            </a:endParaRPr>
          </a:p>
        </p:txBody>
      </p:sp>
      <p:sp>
        <p:nvSpPr>
          <p:cNvPr id="10" name="Title 1">
            <a:extLst>
              <a:ext uri="{FF2B5EF4-FFF2-40B4-BE49-F238E27FC236}">
                <a16:creationId xmlns:a16="http://schemas.microsoft.com/office/drawing/2014/main" id="{03708C6C-F341-46C2-B917-893D7C54C3CA}"/>
              </a:ext>
            </a:extLst>
          </p:cNvPr>
          <p:cNvSpPr txBox="1">
            <a:spLocks/>
          </p:cNvSpPr>
          <p:nvPr/>
        </p:nvSpPr>
        <p:spPr>
          <a:xfrm>
            <a:off x="278620" y="2542282"/>
            <a:ext cx="3024619" cy="737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3600" dirty="0">
                <a:latin typeface="Tw Cen MT" panose="020B0602020104020603" pitchFamily="34" charset="0"/>
              </a:rPr>
              <a:t>Reflection</a:t>
            </a:r>
            <a:endParaRPr lang="en-PH" dirty="0">
              <a:latin typeface="Tw Cen MT" panose="020B0602020104020603" pitchFamily="34" charset="0"/>
            </a:endParaRPr>
          </a:p>
        </p:txBody>
      </p:sp>
      <p:sp>
        <p:nvSpPr>
          <p:cNvPr id="11" name="Content Placeholder 2">
            <a:extLst>
              <a:ext uri="{FF2B5EF4-FFF2-40B4-BE49-F238E27FC236}">
                <a16:creationId xmlns:a16="http://schemas.microsoft.com/office/drawing/2014/main" id="{5A33D309-2E80-4384-8BF1-EFBD662F1A81}"/>
              </a:ext>
            </a:extLst>
          </p:cNvPr>
          <p:cNvSpPr txBox="1">
            <a:spLocks/>
          </p:cNvSpPr>
          <p:nvPr/>
        </p:nvSpPr>
        <p:spPr>
          <a:xfrm>
            <a:off x="2649681" y="2587063"/>
            <a:ext cx="9050797" cy="1222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PH" sz="1600" b="1" dirty="0">
              <a:latin typeface="Tw Cen MT" panose="020B0602020104020603" pitchFamily="34" charset="0"/>
            </a:endParaRPr>
          </a:p>
        </p:txBody>
      </p:sp>
      <p:sp>
        <p:nvSpPr>
          <p:cNvPr id="12" name="TextBox 11">
            <a:extLst>
              <a:ext uri="{FF2B5EF4-FFF2-40B4-BE49-F238E27FC236}">
                <a16:creationId xmlns:a16="http://schemas.microsoft.com/office/drawing/2014/main" id="{24140131-2295-442E-8C7E-0477C154095B}"/>
              </a:ext>
            </a:extLst>
          </p:cNvPr>
          <p:cNvSpPr txBox="1"/>
          <p:nvPr/>
        </p:nvSpPr>
        <p:spPr>
          <a:xfrm>
            <a:off x="278620" y="3118907"/>
            <a:ext cx="11439875" cy="2662267"/>
          </a:xfrm>
          <a:prstGeom prst="rect">
            <a:avLst/>
          </a:prstGeom>
          <a:noFill/>
        </p:spPr>
        <p:txBody>
          <a:bodyPr wrap="square">
            <a:spAutoFit/>
          </a:bodyPr>
          <a:lstStyle/>
          <a:p>
            <a:pPr marL="0" indent="0" algn="just">
              <a:spcAft>
                <a:spcPts val="600"/>
              </a:spcAft>
              <a:buFont typeface="Arial" panose="020B0604020202020204" pitchFamily="34" charset="0"/>
              <a:buNone/>
            </a:pPr>
            <a:r>
              <a:rPr lang="en-PH" dirty="0">
                <a:latin typeface="Tw Cen MT" panose="020B0602020104020603" pitchFamily="34" charset="0"/>
              </a:rPr>
              <a:t>The reference for this activity was really interesting – I liked the writing style of the author and how ideas are introduced. However, I had little time to touch on all the details of each chapter as the semester nears its end. In fact out of all the activities, I was forced to spend the least time on this one (also because of the neural network module). It is a good thing that I’m already familiar with many of the concepts in the reference due to being part of the Complex Systems Laboratory of the institute! When conducting preliminary work for my (future) research, I needed to learn how complex networks behave and what properties we can extract from them. It’s cool to know I’m actually learning things </a:t>
            </a:r>
            <a:r>
              <a:rPr lang="en-PH" dirty="0" err="1">
                <a:latin typeface="Tw Cen MT" panose="020B0602020104020603" pitchFamily="34" charset="0"/>
              </a:rPr>
              <a:t>ahahahaha</a:t>
            </a:r>
            <a:r>
              <a:rPr lang="en-PH" dirty="0">
                <a:latin typeface="Tw Cen MT" panose="020B0602020104020603" pitchFamily="34" charset="0"/>
              </a:rPr>
              <a:t>…</a:t>
            </a:r>
            <a:endParaRPr lang="en-PH" b="1" dirty="0">
              <a:latin typeface="Tw Cen MT" panose="020B0602020104020603" pitchFamily="34" charset="0"/>
            </a:endParaRPr>
          </a:p>
          <a:p>
            <a:pPr marL="0" indent="0" algn="just">
              <a:spcAft>
                <a:spcPts val="600"/>
              </a:spcAft>
              <a:buFont typeface="Arial" panose="020B0604020202020204" pitchFamily="34" charset="0"/>
              <a:buNone/>
            </a:pPr>
            <a:r>
              <a:rPr lang="en-PH" b="1" dirty="0">
                <a:latin typeface="Tw Cen MT" panose="020B0602020104020603" pitchFamily="34" charset="0"/>
              </a:rPr>
              <a:t>I asked the other class about what they did for this activity and based on their stories, I was able to demonstrate more techniques that what was required of them. Because of this, I think I deserve a 100/100</a:t>
            </a:r>
            <a:r>
              <a:rPr lang="en-PH" dirty="0">
                <a:latin typeface="Tw Cen MT" panose="020B0602020104020603" pitchFamily="34" charset="0"/>
              </a:rPr>
              <a:t>. I know I wasn’t able to include some network tools and concepts, but as an introductory activity I think I covered more than enough. </a:t>
            </a:r>
            <a:endParaRPr lang="en-PH" b="1" dirty="0">
              <a:latin typeface="Tw Cen MT" panose="020B0602020104020603" pitchFamily="34" charset="0"/>
            </a:endParaRPr>
          </a:p>
        </p:txBody>
      </p:sp>
    </p:spTree>
    <p:extLst>
      <p:ext uri="{BB962C8B-B14F-4D97-AF65-F5344CB8AC3E}">
        <p14:creationId xmlns:p14="http://schemas.microsoft.com/office/powerpoint/2010/main" val="2394574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4259</TotalTime>
  <Words>1529</Words>
  <Application>Microsoft Office PowerPoint</Application>
  <PresentationFormat>Widescreen</PresentationFormat>
  <Paragraphs>75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Tw Cen MT</vt:lpstr>
      <vt:lpstr>Wingdings</vt:lpstr>
      <vt:lpstr>Office Theme</vt:lpstr>
      <vt:lpstr> Introduction to Networks</vt:lpstr>
      <vt:lpstr>Objectives </vt:lpstr>
      <vt:lpstr> </vt:lpstr>
      <vt:lpstr> </vt:lpstr>
      <vt:lpstr> </vt:lpstr>
      <vt:lpstr> </vt:lpstr>
      <vt:lpstr>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Fourier Transform Model of Image Formation (I of II)</dc:title>
  <dc:creator>Edneil</dc:creator>
  <cp:lastModifiedBy>Edneil</cp:lastModifiedBy>
  <cp:revision>220</cp:revision>
  <dcterms:created xsi:type="dcterms:W3CDTF">2023-03-24T05:11:34Z</dcterms:created>
  <dcterms:modified xsi:type="dcterms:W3CDTF">2023-07-01T15:44:56Z</dcterms:modified>
</cp:coreProperties>
</file>